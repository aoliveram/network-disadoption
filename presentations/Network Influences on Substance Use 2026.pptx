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97" r:id="rId2"/>
    <p:sldMasterId id="2147483718" r:id="rId3"/>
  </p:sldMasterIdLst>
  <p:notesMasterIdLst>
    <p:notesMasterId r:id="rId32"/>
  </p:notesMasterIdLst>
  <p:sldIdLst>
    <p:sldId id="281" r:id="rId4"/>
    <p:sldId id="1037" r:id="rId5"/>
    <p:sldId id="751" r:id="rId6"/>
    <p:sldId id="750" r:id="rId7"/>
    <p:sldId id="755" r:id="rId8"/>
    <p:sldId id="752" r:id="rId9"/>
    <p:sldId id="753" r:id="rId10"/>
    <p:sldId id="754" r:id="rId11"/>
    <p:sldId id="1021" r:id="rId12"/>
    <p:sldId id="1023" r:id="rId13"/>
    <p:sldId id="1017" r:id="rId14"/>
    <p:sldId id="1025" r:id="rId15"/>
    <p:sldId id="1032" r:id="rId16"/>
    <p:sldId id="1044" r:id="rId17"/>
    <p:sldId id="1041" r:id="rId18"/>
    <p:sldId id="1047" r:id="rId19"/>
    <p:sldId id="1039" r:id="rId20"/>
    <p:sldId id="1040" r:id="rId21"/>
    <p:sldId id="1028" r:id="rId22"/>
    <p:sldId id="1048" r:id="rId23"/>
    <p:sldId id="1045" r:id="rId24"/>
    <p:sldId id="1046" r:id="rId25"/>
    <p:sldId id="1036" r:id="rId26"/>
    <p:sldId id="1043" r:id="rId27"/>
    <p:sldId id="1038" r:id="rId28"/>
    <p:sldId id="1026" r:id="rId29"/>
    <p:sldId id="1027" r:id="rId30"/>
    <p:sldId id="1035" r:id="rId31"/>
  </p:sldIdLst>
  <p:sldSz cx="9144000" cy="6858000" type="screen4x3"/>
  <p:notesSz cx="6950075" cy="9236075"/>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66CCFF"/>
    <a:srgbClr val="6699FF"/>
    <a:srgbClr val="0066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700" autoAdjust="0"/>
  </p:normalViewPr>
  <p:slideViewPr>
    <p:cSldViewPr>
      <p:cViewPr varScale="1">
        <p:scale>
          <a:sx n="63" d="100"/>
          <a:sy n="63" d="100"/>
        </p:scale>
        <p:origin x="1404" y="56"/>
      </p:cViewPr>
      <p:guideLst>
        <p:guide orient="horz" pos="2160"/>
        <p:guide pos="2880"/>
      </p:guideLst>
    </p:cSldViewPr>
  </p:slideViewPr>
  <p:outlineViewPr>
    <p:cViewPr>
      <p:scale>
        <a:sx n="33" d="100"/>
        <a:sy n="33" d="100"/>
      </p:scale>
      <p:origin x="0" y="6096"/>
    </p:cViewPr>
  </p:outlineViewPr>
  <p:notesTextViewPr>
    <p:cViewPr>
      <p:scale>
        <a:sx n="100" d="100"/>
        <a:sy n="100" d="100"/>
      </p:scale>
      <p:origin x="0" y="0"/>
    </p:cViewPr>
  </p:notesTextViewPr>
  <p:sorterViewPr>
    <p:cViewPr varScale="1">
      <p:scale>
        <a:sx n="100" d="100"/>
        <a:sy n="100" d="100"/>
      </p:scale>
      <p:origin x="0" y="-3944"/>
    </p:cViewPr>
  </p:sorterViewPr>
  <p:notesViewPr>
    <p:cSldViewPr>
      <p:cViewPr varScale="1">
        <p:scale>
          <a:sx n="47" d="100"/>
          <a:sy n="47" d="100"/>
        </p:scale>
        <p:origin x="2772"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fontAlgn="auto">
              <a:spcBef>
                <a:spcPts val="0"/>
              </a:spcBef>
              <a:spcAft>
                <a:spcPts val="0"/>
              </a:spcAft>
              <a:defRPr sz="1200">
                <a:latin typeface="+mn-lt"/>
                <a:cs typeface="+mn-cs"/>
              </a:defRPr>
            </a:lvl1pPr>
          </a:lstStyle>
          <a:p>
            <a:pPr>
              <a:defRPr/>
            </a:pPr>
            <a:fld id="{81B218C8-F481-4ADB-8539-7BECB0A05F19}" type="datetimeFigureOut">
              <a:rPr lang="en-US"/>
              <a:pPr>
                <a:defRPr/>
              </a:pPr>
              <a:t>6/25/2026</a:t>
            </a:fld>
            <a:endParaRPr lang="en-US"/>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2492" tIns="46246" rIns="92492" bIns="46246" rtlCol="0" anchor="ctr"/>
          <a:lstStyle/>
          <a:p>
            <a:pPr lvl="0"/>
            <a:endParaRPr lang="en-US" noProof="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fontAlgn="auto">
              <a:spcBef>
                <a:spcPts val="0"/>
              </a:spcBef>
              <a:spcAft>
                <a:spcPts val="0"/>
              </a:spcAft>
              <a:defRPr sz="1200">
                <a:latin typeface="+mn-lt"/>
                <a:cs typeface="+mn-cs"/>
              </a:defRPr>
            </a:lvl1pPr>
          </a:lstStyle>
          <a:p>
            <a:pPr>
              <a:defRPr/>
            </a:pPr>
            <a:fld id="{CE6E8993-354D-44A4-A620-2327C1013C88}" type="slidenum">
              <a:rPr lang="en-US"/>
              <a:pPr>
                <a:defRPr/>
              </a:pPr>
              <a:t>‹#›</a:t>
            </a:fld>
            <a:endParaRPr lang="en-US"/>
          </a:p>
        </p:txBody>
      </p:sp>
    </p:spTree>
    <p:extLst>
      <p:ext uri="{BB962C8B-B14F-4D97-AF65-F5344CB8AC3E}">
        <p14:creationId xmlns:p14="http://schemas.microsoft.com/office/powerpoint/2010/main" val="13652108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xfrm>
            <a:off x="5768009" y="6257787"/>
            <a:ext cx="2895600" cy="476250"/>
          </a:xfrm>
          <a:ln/>
        </p:spPr>
        <p:txBody>
          <a:bodyPr/>
          <a:lstStyle>
            <a:lvl1pPr>
              <a:defRPr/>
            </a:lvl1pPr>
          </a:lstStyle>
          <a:p>
            <a:pPr>
              <a:defRPr/>
            </a:pPr>
            <a:r>
              <a:rPr lang="en-US" dirty="0"/>
              <a:t>Slide # </a:t>
            </a:r>
            <a:fld id="{EF6EE748-6D85-4FEF-868A-97D7BF9BB179}"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4C6442-8251-4C5F-867E-007D45FC050F}"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A7664A0-77D3-4D20-9E82-46ED3AD4D25D}"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582503F-59C2-458E-A134-4CD493B90349}"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4B8BD9F-C288-4DFB-8563-4918193A7D1D}"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26619C9-4C65-4F9C-86F1-11F71574ECA1}"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5C88995-7B9D-43FF-A1FB-441183FDD50A}"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DA20EEA-FDA0-45CC-B051-1211CA56AE0A}"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7A736E4-5DDF-4A2A-B8FA-531E83CFA25B}"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FDCFEAC-06F9-413E-8A53-B8B10141D93D}"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D005942-D5CC-4B7E-B57E-3C142DA5CA6F}"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6F5C3E0-DAFF-4B8E-A2E5-F41E4703C8D7}"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64135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1590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719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2852738"/>
            <a:ext cx="3810000" cy="719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sldNum" sz="quarter" idx="10"/>
          </p:nvPr>
        </p:nvSpPr>
        <p:spPr/>
        <p:txBody>
          <a:bodyPr/>
          <a:lstStyle>
            <a:lvl1pPr>
              <a:defRPr/>
            </a:lvl1pPr>
          </a:lstStyle>
          <a:p>
            <a:pPr>
              <a:defRPr/>
            </a:pPr>
            <a:fld id="{E0ABDFAF-17D4-490C-85DC-AE2C532DE1F8}"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89B610C-FB9E-4717-A290-0013D92E887D}"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hart Placeholder 2"/>
          <p:cNvSpPr>
            <a:spLocks noGrp="1"/>
          </p:cNvSpPr>
          <p:nvPr>
            <p:ph type="chart" idx="1"/>
          </p:nvPr>
        </p:nvSpPr>
        <p:spPr>
          <a:xfrm>
            <a:off x="685800" y="1981200"/>
            <a:ext cx="7772400" cy="4114800"/>
          </a:xfrm>
        </p:spPr>
        <p:txBody>
          <a:bodyPr/>
          <a:lstStyle/>
          <a:p>
            <a:pPr lvl="0"/>
            <a:r>
              <a:rPr lang="en-US" noProof="0"/>
              <a:t>Click icon to add chart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76200" y="381000"/>
            <a:ext cx="8305800" cy="685800"/>
          </a:xfrm>
        </p:spPr>
        <p:txBody>
          <a:bodyPr/>
          <a:lstStyle/>
          <a:p>
            <a:r>
              <a:rPr lang="en-US"/>
              <a:t>Click to edit Master title style</a:t>
            </a:r>
          </a:p>
        </p:txBody>
      </p:sp>
      <p:sp>
        <p:nvSpPr>
          <p:cNvPr id="3" name="Text Placeholder 2"/>
          <p:cNvSpPr>
            <a:spLocks noGrp="1"/>
          </p:cNvSpPr>
          <p:nvPr>
            <p:ph type="body" sz="half" idx="1"/>
          </p:nvPr>
        </p:nvSpPr>
        <p:spPr>
          <a:xfrm>
            <a:off x="152400" y="1295400"/>
            <a:ext cx="40767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381500" y="1295400"/>
            <a:ext cx="4076700" cy="5029200"/>
          </a:xfrm>
        </p:spPr>
        <p:txBody>
          <a:bodyPr/>
          <a:lstStyle/>
          <a:p>
            <a:pPr lvl="0"/>
            <a:r>
              <a:rPr lang="en-US" noProof="0"/>
              <a:t>Click icon to add clip art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D25C5F03-22BB-499C-AF9A-E1AE6751B047}" type="slidenum">
              <a:rPr lang="en-US"/>
              <a:pPr>
                <a:defRPr/>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pPr>
              <a:defRPr/>
            </a:pPr>
            <a:fld id="{FE2D17D7-8D57-4B39-8E14-9B2F988A9826}" type="slidenum">
              <a:rPr lang="en-US"/>
              <a:pPr>
                <a:defRPr/>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pPr>
              <a:defRPr/>
            </a:pPr>
            <a:fld id="{ABF863F7-3242-4F1C-B094-DEEA020FE495}" type="slidenum">
              <a:rPr lang="en-US"/>
              <a:pPr>
                <a:defRPr/>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pPr>
              <a:defRPr/>
            </a:pPr>
            <a:fld id="{B7EA2B30-EF98-42AA-AFC2-005B30210627}" type="slidenum">
              <a:rPr lang="en-US"/>
              <a:pPr>
                <a:defRPr/>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sldNum" sz="quarter" idx="10"/>
          </p:nvPr>
        </p:nvSpPr>
        <p:spPr>
          <a:ln/>
        </p:spPr>
        <p:txBody>
          <a:bodyPr/>
          <a:lstStyle>
            <a:lvl1pPr>
              <a:defRPr/>
            </a:lvl1pPr>
          </a:lstStyle>
          <a:p>
            <a:pPr>
              <a:defRPr/>
            </a:pPr>
            <a:fld id="{588294F5-2A26-4275-BA20-565CA8F7128A}" type="slidenum">
              <a:rPr lang="en-US"/>
              <a:pPr>
                <a:defRPr/>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7DB9892E-D8D3-438A-AD90-3552B0554B12}" type="slidenum">
              <a:rPr lang="en-US"/>
              <a:pPr>
                <a:defRPr/>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fld id="{70C55FC2-F70F-49CF-A840-BC23908A9A68}" type="slidenum">
              <a:rPr lang="en-US"/>
              <a:pPr>
                <a:defRPr/>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159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159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sldNum" sz="quarter" idx="10"/>
          </p:nvPr>
        </p:nvSpPr>
        <p:spPr>
          <a:ln/>
        </p:spPr>
        <p:txBody>
          <a:bodyPr/>
          <a:lstStyle>
            <a:lvl1pPr>
              <a:defRPr/>
            </a:lvl1pPr>
          </a:lstStyle>
          <a:p>
            <a:pPr>
              <a:defRPr/>
            </a:pPr>
            <a:fld id="{7EC3E65C-2091-4386-9A2D-ACD1384325AF}" type="slidenum">
              <a:rPr lang="en-US"/>
              <a:pPr>
                <a:defRPr/>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0"/>
          </p:nvPr>
        </p:nvSpPr>
        <p:spPr>
          <a:ln/>
        </p:spPr>
        <p:txBody>
          <a:bodyPr/>
          <a:lstStyle>
            <a:lvl1pPr>
              <a:defRPr/>
            </a:lvl1pPr>
          </a:lstStyle>
          <a:p>
            <a:pPr>
              <a:defRPr/>
            </a:pPr>
            <a:fld id="{7FE2A2AE-E436-4D12-BBCA-27F873552405}" type="slidenum">
              <a:rPr lang="en-US"/>
              <a:pPr>
                <a:defRPr/>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ln/>
        </p:spPr>
        <p:txBody>
          <a:bodyPr/>
          <a:lstStyle>
            <a:lvl1pPr>
              <a:defRPr/>
            </a:lvl1pPr>
          </a:lstStyle>
          <a:p>
            <a:pPr>
              <a:defRPr/>
            </a:pPr>
            <a:fld id="{F8BF406A-93CF-4CE7-ABB4-1AB99092A152}" type="slidenum">
              <a:rPr lang="en-US"/>
              <a:pPr>
                <a:defRPr/>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81C73F69-51F8-4FBC-8006-CB985E2A364C}" type="slidenum">
              <a:rPr lang="en-US"/>
              <a:pPr>
                <a:defRPr/>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3ED0D01F-295C-4019-A866-8DDBF611D6F0}" type="slidenum">
              <a:rPr lang="en-US"/>
              <a:pPr>
                <a:defRPr/>
              </a:pPr>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fld id="{7033C236-FE48-4329-B2C6-75621D73B451}" type="slidenum">
              <a:rPr lang="en-US"/>
              <a:pPr>
                <a:defRPr/>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CBAD1268-7D74-42EC-9062-9FCF87544A52}" type="slidenum">
              <a:rPr lang="en-US"/>
              <a:pPr>
                <a:defRPr/>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304800"/>
            <a:ext cx="1962150" cy="3267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04800"/>
            <a:ext cx="5734050" cy="3267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4664A8DF-B7AE-4B8B-B9BC-6D31C1070C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609600"/>
            <a:ext cx="8229600" cy="8080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3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400">
                <a:latin typeface="+mn-lt"/>
                <a:cs typeface="+mn-cs"/>
              </a:defRPr>
            </a:lvl1pPr>
          </a:lstStyle>
          <a:p>
            <a:pPr>
              <a:defRPr/>
            </a:pPr>
            <a:endParaRPr lang="en-US"/>
          </a:p>
        </p:txBody>
      </p:sp>
      <p:sp>
        <p:nvSpPr>
          <p:cNvPr id="163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fontAlgn="auto" hangingPunct="1">
              <a:spcBef>
                <a:spcPts val="0"/>
              </a:spcBef>
              <a:spcAft>
                <a:spcPts val="0"/>
              </a:spcAft>
              <a:defRPr sz="1400">
                <a:latin typeface="+mn-lt"/>
                <a:cs typeface="+mn-cs"/>
              </a:defRPr>
            </a:lvl1pPr>
          </a:lstStyle>
          <a:p>
            <a:pPr>
              <a:defRPr/>
            </a:pPr>
            <a:endParaRPr lang="en-US" dirty="0"/>
          </a:p>
        </p:txBody>
      </p:sp>
      <p:sp>
        <p:nvSpPr>
          <p:cNvPr id="3" name="TextBox 2">
            <a:extLst>
              <a:ext uri="{FF2B5EF4-FFF2-40B4-BE49-F238E27FC236}">
                <a16:creationId xmlns:a16="http://schemas.microsoft.com/office/drawing/2014/main" id="{A71AC513-C1C4-C8CD-25E0-7DC468B77BA7}"/>
              </a:ext>
            </a:extLst>
          </p:cNvPr>
          <p:cNvSpPr txBox="1"/>
          <p:nvPr userDrawn="1">
            <p:extLst>
              <p:ext uri="{1162E1C5-73C7-4A58-AE30-91384D911F3F}">
                <p184:classification xmlns:p184="http://schemas.microsoft.com/office/powerpoint/2018/4/main" val="ftr"/>
              </p:ext>
            </p:extLst>
          </p:nvPr>
        </p:nvSpPr>
        <p:spPr>
          <a:xfrm>
            <a:off x="4314000" y="6642100"/>
            <a:ext cx="544512"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cstate="print"/>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609600"/>
            <a:ext cx="8229600" cy="8080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3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400">
                <a:latin typeface="+mn-lt"/>
                <a:cs typeface="+mn-cs"/>
              </a:defRPr>
            </a:lvl1pPr>
          </a:lstStyle>
          <a:p>
            <a:pPr>
              <a:defRPr/>
            </a:pPr>
            <a:endParaRPr lang="en-US"/>
          </a:p>
        </p:txBody>
      </p:sp>
      <p:sp>
        <p:nvSpPr>
          <p:cNvPr id="163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fontAlgn="auto" hangingPunct="1">
              <a:spcBef>
                <a:spcPts val="0"/>
              </a:spcBef>
              <a:spcAft>
                <a:spcPts val="0"/>
              </a:spcAft>
              <a:defRPr sz="1400">
                <a:latin typeface="+mn-lt"/>
                <a:cs typeface="+mn-cs"/>
              </a:defRPr>
            </a:lvl1pPr>
          </a:lstStyle>
          <a:p>
            <a:pPr>
              <a:defRPr/>
            </a:pPr>
            <a:endParaRPr lang="en-US"/>
          </a:p>
        </p:txBody>
      </p:sp>
      <p:sp>
        <p:nvSpPr>
          <p:cNvPr id="1639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400">
                <a:latin typeface="+mn-lt"/>
                <a:cs typeface="+mn-cs"/>
              </a:defRPr>
            </a:lvl1pPr>
          </a:lstStyle>
          <a:p>
            <a:pPr>
              <a:defRPr/>
            </a:pPr>
            <a:fld id="{44AE8883-5EF3-43AF-A6B5-D35102C0DDF1}" type="slidenum">
              <a:rPr lang="en-US"/>
              <a:pPr>
                <a:defRPr/>
              </a:pPr>
              <a:t>‹#›</a:t>
            </a:fld>
            <a:endParaRPr lang="en-US"/>
          </a:p>
        </p:txBody>
      </p:sp>
      <p:sp>
        <p:nvSpPr>
          <p:cNvPr id="3" name="TextBox 2">
            <a:extLst>
              <a:ext uri="{FF2B5EF4-FFF2-40B4-BE49-F238E27FC236}">
                <a16:creationId xmlns:a16="http://schemas.microsoft.com/office/drawing/2014/main" id="{4B576A26-0757-3E8C-A466-AAE4D81C58E8}"/>
              </a:ext>
            </a:extLst>
          </p:cNvPr>
          <p:cNvSpPr txBox="1"/>
          <p:nvPr userDrawn="1">
            <p:extLst>
              <p:ext uri="{1162E1C5-73C7-4A58-AE30-91384D911F3F}">
                <p184:classification xmlns:p184="http://schemas.microsoft.com/office/powerpoint/2018/4/main" val="ftr"/>
              </p:ext>
            </p:extLst>
          </p:nvPr>
        </p:nvSpPr>
        <p:spPr>
          <a:xfrm>
            <a:off x="4314000" y="6642100"/>
            <a:ext cx="544512"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72" r:id="rId12"/>
    <p:sldLayoutId id="2147483760" r:id="rId13"/>
    <p:sldLayoutId id="2147483773" r:id="rId14"/>
    <p:sldLayoutId id="2147483774" r:id="rId15"/>
    <p:sldLayoutId id="2147483776" r:id="rId16"/>
    <p:sldLayoutId id="2147483777" r:id="rId17"/>
    <p:sldLayoutId id="2147483778" r:id="rId18"/>
    <p:sldLayoutId id="2147483779" r:id="rId19"/>
  </p:sldLayoutIdLst>
  <p:hf hdr="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00CC"/>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09600" y="304800"/>
            <a:ext cx="7772400" cy="641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t>Click to edit Master title style</a:t>
            </a:r>
          </a:p>
        </p:txBody>
      </p:sp>
      <p:sp>
        <p:nvSpPr>
          <p:cNvPr id="3075" name="Rectangle 3"/>
          <p:cNvSpPr>
            <a:spLocks noGrp="1" noChangeArrowheads="1"/>
          </p:cNvSpPr>
          <p:nvPr>
            <p:ph type="body" idx="1"/>
          </p:nvPr>
        </p:nvSpPr>
        <p:spPr bwMode="auto">
          <a:xfrm>
            <a:off x="685800" y="1981200"/>
            <a:ext cx="7772400" cy="1590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74468" name="Rectangle 4"/>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chemeClr val="bg1"/>
                </a:solidFill>
                <a:latin typeface="+mn-lt"/>
              </a:defRPr>
            </a:lvl1pPr>
          </a:lstStyle>
          <a:p>
            <a:pPr>
              <a:defRPr/>
            </a:pPr>
            <a:fld id="{F484C8FB-E160-4F51-9410-0A02845AE574}" type="slidenum">
              <a:rPr lang="en-US"/>
              <a:pPr>
                <a:defRPr/>
              </a:pPr>
              <a:t>‹#›</a:t>
            </a:fld>
            <a:endParaRPr lang="en-US"/>
          </a:p>
        </p:txBody>
      </p:sp>
      <p:sp>
        <p:nvSpPr>
          <p:cNvPr id="3" name="TextBox 2">
            <a:extLst>
              <a:ext uri="{FF2B5EF4-FFF2-40B4-BE49-F238E27FC236}">
                <a16:creationId xmlns:a16="http://schemas.microsoft.com/office/drawing/2014/main" id="{89964F11-6C16-EBDA-452C-03ACB8BB9DD5}"/>
              </a:ext>
            </a:extLst>
          </p:cNvPr>
          <p:cNvSpPr txBox="1"/>
          <p:nvPr userDrawn="1">
            <p:extLst>
              <p:ext uri="{1162E1C5-73C7-4A58-AE30-91384D911F3F}">
                <p184:classification xmlns:p184="http://schemas.microsoft.com/office/powerpoint/2018/4/main" val="ftr"/>
              </p:ext>
            </p:extLst>
          </p:nvPr>
        </p:nvSpPr>
        <p:spPr>
          <a:xfrm>
            <a:off x="4314000" y="6642100"/>
            <a:ext cx="544512"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hf hdr="0"/>
  <p:txStyles>
    <p:titleStyle>
      <a:lvl1pPr algn="ctr" rtl="0" fontAlgn="base">
        <a:spcBef>
          <a:spcPct val="0"/>
        </a:spcBef>
        <a:spcAft>
          <a:spcPct val="0"/>
        </a:spcAft>
        <a:defRPr sz="3600" b="1">
          <a:solidFill>
            <a:srgbClr val="FFFF66"/>
          </a:solidFill>
          <a:latin typeface="+mj-lt"/>
          <a:ea typeface="+mj-ea"/>
          <a:cs typeface="+mj-cs"/>
        </a:defRPr>
      </a:lvl1pPr>
      <a:lvl2pPr algn="ctr" rtl="0" fontAlgn="base">
        <a:spcBef>
          <a:spcPct val="0"/>
        </a:spcBef>
        <a:spcAft>
          <a:spcPct val="0"/>
        </a:spcAft>
        <a:defRPr sz="3600" b="1">
          <a:solidFill>
            <a:srgbClr val="FFFF66"/>
          </a:solidFill>
          <a:latin typeface="Times New Roman" pitchFamily="18" charset="0"/>
        </a:defRPr>
      </a:lvl2pPr>
      <a:lvl3pPr algn="ctr" rtl="0" fontAlgn="base">
        <a:spcBef>
          <a:spcPct val="0"/>
        </a:spcBef>
        <a:spcAft>
          <a:spcPct val="0"/>
        </a:spcAft>
        <a:defRPr sz="3600" b="1">
          <a:solidFill>
            <a:srgbClr val="FFFF66"/>
          </a:solidFill>
          <a:latin typeface="Times New Roman" pitchFamily="18" charset="0"/>
        </a:defRPr>
      </a:lvl3pPr>
      <a:lvl4pPr algn="ctr" rtl="0" fontAlgn="base">
        <a:spcBef>
          <a:spcPct val="0"/>
        </a:spcBef>
        <a:spcAft>
          <a:spcPct val="0"/>
        </a:spcAft>
        <a:defRPr sz="3600" b="1">
          <a:solidFill>
            <a:srgbClr val="FFFF66"/>
          </a:solidFill>
          <a:latin typeface="Times New Roman" pitchFamily="18" charset="0"/>
        </a:defRPr>
      </a:lvl4pPr>
      <a:lvl5pPr algn="ctr" rtl="0" fontAlgn="base">
        <a:spcBef>
          <a:spcPct val="0"/>
        </a:spcBef>
        <a:spcAft>
          <a:spcPct val="0"/>
        </a:spcAft>
        <a:defRPr sz="3600" b="1">
          <a:solidFill>
            <a:srgbClr val="FFFF66"/>
          </a:solidFill>
          <a:latin typeface="Times New Roman" pitchFamily="18" charset="0"/>
        </a:defRPr>
      </a:lvl5pPr>
      <a:lvl6pPr marL="457200" algn="ctr" rtl="0" eaLnBrk="1" fontAlgn="base" hangingPunct="1">
        <a:spcBef>
          <a:spcPct val="0"/>
        </a:spcBef>
        <a:spcAft>
          <a:spcPct val="0"/>
        </a:spcAft>
        <a:defRPr sz="3600" b="1">
          <a:solidFill>
            <a:srgbClr val="FFFF66"/>
          </a:solidFill>
          <a:latin typeface="Times New Roman" pitchFamily="18" charset="0"/>
        </a:defRPr>
      </a:lvl6pPr>
      <a:lvl7pPr marL="914400" algn="ctr" rtl="0" eaLnBrk="1" fontAlgn="base" hangingPunct="1">
        <a:spcBef>
          <a:spcPct val="0"/>
        </a:spcBef>
        <a:spcAft>
          <a:spcPct val="0"/>
        </a:spcAft>
        <a:defRPr sz="3600" b="1">
          <a:solidFill>
            <a:srgbClr val="FFFF66"/>
          </a:solidFill>
          <a:latin typeface="Times New Roman" pitchFamily="18" charset="0"/>
        </a:defRPr>
      </a:lvl7pPr>
      <a:lvl8pPr marL="1371600" algn="ctr" rtl="0" eaLnBrk="1" fontAlgn="base" hangingPunct="1">
        <a:spcBef>
          <a:spcPct val="0"/>
        </a:spcBef>
        <a:spcAft>
          <a:spcPct val="0"/>
        </a:spcAft>
        <a:defRPr sz="3600" b="1">
          <a:solidFill>
            <a:srgbClr val="FFFF66"/>
          </a:solidFill>
          <a:latin typeface="Times New Roman" pitchFamily="18" charset="0"/>
        </a:defRPr>
      </a:lvl8pPr>
      <a:lvl9pPr marL="1828800" algn="ctr" rtl="0" eaLnBrk="1" fontAlgn="base" hangingPunct="1">
        <a:spcBef>
          <a:spcPct val="0"/>
        </a:spcBef>
        <a:spcAft>
          <a:spcPct val="0"/>
        </a:spcAft>
        <a:defRPr sz="3600" b="1">
          <a:solidFill>
            <a:srgbClr val="FFFF66"/>
          </a:solidFill>
          <a:latin typeface="Times New Roman" pitchFamily="18" charset="0"/>
        </a:defRPr>
      </a:lvl9pPr>
    </p:titleStyle>
    <p:bodyStyle>
      <a:lvl1pPr marL="342900" indent="-342900" algn="l" rtl="0" fontAlgn="base">
        <a:spcBef>
          <a:spcPct val="20000"/>
        </a:spcBef>
        <a:spcAft>
          <a:spcPct val="0"/>
        </a:spcAft>
        <a:buChar char="•"/>
        <a:defRPr sz="2400" b="1">
          <a:solidFill>
            <a:schemeClr val="bg1"/>
          </a:solidFill>
          <a:latin typeface="+mn-lt"/>
          <a:ea typeface="+mn-ea"/>
          <a:cs typeface="+mn-cs"/>
        </a:defRPr>
      </a:lvl1pPr>
      <a:lvl2pPr marL="742950" indent="-285750" algn="l" rtl="0" fontAlgn="base">
        <a:spcBef>
          <a:spcPct val="20000"/>
        </a:spcBef>
        <a:spcAft>
          <a:spcPct val="0"/>
        </a:spcAft>
        <a:buChar char="–"/>
        <a:defRPr sz="2000" b="1">
          <a:solidFill>
            <a:schemeClr val="bg1"/>
          </a:solidFill>
          <a:latin typeface="+mn-lt"/>
        </a:defRPr>
      </a:lvl2pPr>
      <a:lvl3pPr marL="1143000" indent="-228600" algn="l" rtl="0" fontAlgn="base">
        <a:spcBef>
          <a:spcPct val="20000"/>
        </a:spcBef>
        <a:spcAft>
          <a:spcPct val="0"/>
        </a:spcAft>
        <a:buChar char="•"/>
        <a:defRPr b="1">
          <a:solidFill>
            <a:schemeClr val="bg1"/>
          </a:solidFill>
          <a:latin typeface="+mn-lt"/>
        </a:defRPr>
      </a:lvl3pPr>
      <a:lvl4pPr marL="1600200" indent="-228600" algn="l" rtl="0" fontAlgn="base">
        <a:spcBef>
          <a:spcPct val="20000"/>
        </a:spcBef>
        <a:spcAft>
          <a:spcPct val="0"/>
        </a:spcAft>
        <a:buChar char="–"/>
        <a:defRPr sz="1400" b="1">
          <a:solidFill>
            <a:schemeClr val="bg1"/>
          </a:solidFill>
          <a:latin typeface="+mn-lt"/>
        </a:defRPr>
      </a:lvl4pPr>
      <a:lvl5pPr marL="2057400" indent="-228600" algn="l" rtl="0" fontAlgn="base">
        <a:spcBef>
          <a:spcPct val="20000"/>
        </a:spcBef>
        <a:spcAft>
          <a:spcPct val="0"/>
        </a:spcAft>
        <a:buChar char="»"/>
        <a:defRPr sz="1000" b="1">
          <a:solidFill>
            <a:schemeClr val="bg1"/>
          </a:solidFill>
          <a:latin typeface="+mn-lt"/>
        </a:defRPr>
      </a:lvl5pPr>
      <a:lvl6pPr marL="2514600" indent="-228600" algn="l" rtl="0" eaLnBrk="1" fontAlgn="base" hangingPunct="1">
        <a:spcBef>
          <a:spcPct val="20000"/>
        </a:spcBef>
        <a:spcAft>
          <a:spcPct val="0"/>
        </a:spcAft>
        <a:buChar char="»"/>
        <a:defRPr sz="1000" b="1">
          <a:solidFill>
            <a:schemeClr val="bg1"/>
          </a:solidFill>
          <a:latin typeface="+mn-lt"/>
        </a:defRPr>
      </a:lvl6pPr>
      <a:lvl7pPr marL="2971800" indent="-228600" algn="l" rtl="0" eaLnBrk="1" fontAlgn="base" hangingPunct="1">
        <a:spcBef>
          <a:spcPct val="20000"/>
        </a:spcBef>
        <a:spcAft>
          <a:spcPct val="0"/>
        </a:spcAft>
        <a:buChar char="»"/>
        <a:defRPr sz="1000" b="1">
          <a:solidFill>
            <a:schemeClr val="bg1"/>
          </a:solidFill>
          <a:latin typeface="+mn-lt"/>
        </a:defRPr>
      </a:lvl7pPr>
      <a:lvl8pPr marL="3429000" indent="-228600" algn="l" rtl="0" eaLnBrk="1" fontAlgn="base" hangingPunct="1">
        <a:spcBef>
          <a:spcPct val="20000"/>
        </a:spcBef>
        <a:spcAft>
          <a:spcPct val="0"/>
        </a:spcAft>
        <a:buChar char="»"/>
        <a:defRPr sz="1000" b="1">
          <a:solidFill>
            <a:schemeClr val="bg1"/>
          </a:solidFill>
          <a:latin typeface="+mn-lt"/>
        </a:defRPr>
      </a:lvl8pPr>
      <a:lvl9pPr marL="3886200" indent="-228600" algn="l" rtl="0" eaLnBrk="1" fontAlgn="base" hangingPunct="1">
        <a:spcBef>
          <a:spcPct val="20000"/>
        </a:spcBef>
        <a:spcAft>
          <a:spcPct val="0"/>
        </a:spcAft>
        <a:buChar char="»"/>
        <a:defRPr sz="1000"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a:xfrm>
            <a:off x="0" y="990600"/>
            <a:ext cx="8991600" cy="990600"/>
          </a:xfrm>
        </p:spPr>
        <p:txBody>
          <a:bodyPr/>
          <a:lstStyle/>
          <a:p>
            <a:pPr marL="0" marR="0" algn="ctr">
              <a:lnSpc>
                <a:spcPct val="107000"/>
              </a:lnSpc>
              <a:spcBef>
                <a:spcPts val="0"/>
              </a:spcBef>
              <a:spcAft>
                <a:spcPts val="800"/>
              </a:spcAft>
            </a:pPr>
            <a:r>
              <a:rPr lang="en-US" sz="4800" dirty="0">
                <a:effectLst/>
                <a:latin typeface="Calibri" panose="020F0502020204030204" pitchFamily="34" charset="0"/>
                <a:ea typeface="Calibri" panose="020F0502020204030204" pitchFamily="34" charset="0"/>
                <a:cs typeface="Times New Roman" panose="02020603050405020304" pitchFamily="18" charset="0"/>
              </a:rPr>
              <a:t>Social Network Influences on</a:t>
            </a:r>
            <a:br>
              <a:rPr lang="en-US" sz="4800" dirty="0">
                <a:effectLst/>
                <a:latin typeface="Calibri" panose="020F0502020204030204" pitchFamily="34" charset="0"/>
                <a:ea typeface="Calibri" panose="020F0502020204030204" pitchFamily="34" charset="0"/>
                <a:cs typeface="Times New Roman" panose="02020603050405020304" pitchFamily="18" charset="0"/>
              </a:rPr>
            </a:br>
            <a:r>
              <a:rPr lang="en-US" sz="4800" dirty="0">
                <a:effectLst/>
                <a:latin typeface="Calibri" panose="020F0502020204030204" pitchFamily="34" charset="0"/>
                <a:ea typeface="Calibri" panose="020F0502020204030204" pitchFamily="34" charset="0"/>
                <a:cs typeface="Times New Roman" panose="02020603050405020304" pitchFamily="18" charset="0"/>
              </a:rPr>
              <a:t>Adolescent Substance Use</a:t>
            </a:r>
          </a:p>
        </p:txBody>
      </p:sp>
      <p:sp>
        <p:nvSpPr>
          <p:cNvPr id="2052" name="TextBox 1"/>
          <p:cNvSpPr txBox="1">
            <a:spLocks noChangeArrowheads="1"/>
          </p:cNvSpPr>
          <p:nvPr/>
        </p:nvSpPr>
        <p:spPr bwMode="auto">
          <a:xfrm>
            <a:off x="685800" y="3200400"/>
            <a:ext cx="761999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ltLang="en-US" sz="3200" dirty="0"/>
              <a:t>Sunbelt  </a:t>
            </a:r>
          </a:p>
          <a:p>
            <a:pPr algn="ctr" eaLnBrk="1" hangingPunct="1"/>
            <a:r>
              <a:rPr lang="en-US" altLang="en-US" sz="3200" dirty="0"/>
              <a:t>INSNA 2026</a:t>
            </a:r>
          </a:p>
          <a:p>
            <a:pPr algn="ctr" eaLnBrk="1" hangingPunct="1"/>
            <a:r>
              <a:rPr lang="en-US" altLang="en-US" sz="3200" dirty="0"/>
              <a:t>Daytona Beach, FL, USA</a:t>
            </a:r>
          </a:p>
        </p:txBody>
      </p:sp>
      <p:sp>
        <p:nvSpPr>
          <p:cNvPr id="2" name="Date Placeholder 1"/>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079A458C-08CE-31FC-B147-E89C7A8ACE8F}"/>
              </a:ext>
            </a:extLst>
          </p:cNvPr>
          <p:cNvSpPr>
            <a:spLocks noGrp="1"/>
          </p:cNvSpPr>
          <p:nvPr>
            <p:ph type="ftr" sz="quarter" idx="11"/>
          </p:nvPr>
        </p:nvSpPr>
        <p:spPr/>
        <p:txBody>
          <a:bodyPr/>
          <a:lstStyle/>
          <a:p>
            <a:pPr>
              <a:defRPr/>
            </a:pPr>
            <a:r>
              <a:rPr lang="en-US" dirty="0"/>
              <a:t>Slide # </a:t>
            </a:r>
            <a:fld id="{790B3AE7-A538-4819-AE6D-42D92D92AED9}" type="slidenum">
              <a:rPr lang="en-US" smtClean="0"/>
              <a:t>1</a:t>
            </a:fld>
            <a:endParaRPr lang="en-US" dirty="0"/>
          </a:p>
        </p:txBody>
      </p:sp>
    </p:spTree>
    <p:extLst>
      <p:ext uri="{BB962C8B-B14F-4D97-AF65-F5344CB8AC3E}">
        <p14:creationId xmlns:p14="http://schemas.microsoft.com/office/powerpoint/2010/main" val="2701180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F04D5-E714-11E7-8A26-6232C25937F6}"/>
              </a:ext>
            </a:extLst>
          </p:cNvPr>
          <p:cNvSpPr>
            <a:spLocks noGrp="1"/>
          </p:cNvSpPr>
          <p:nvPr>
            <p:ph type="title"/>
          </p:nvPr>
        </p:nvSpPr>
        <p:spPr>
          <a:xfrm>
            <a:off x="457200" y="1371600"/>
            <a:ext cx="8229600" cy="808038"/>
          </a:xfrm>
        </p:spPr>
        <p:txBody>
          <a:bodyPr/>
          <a:lstStyle/>
          <a:p>
            <a:r>
              <a:rPr lang="en-US" sz="3600" dirty="0">
                <a:solidFill>
                  <a:srgbClr val="C00000"/>
                </a:solidFill>
              </a:rPr>
              <a:t>E-cigarette Cessation as a </a:t>
            </a:r>
            <a:r>
              <a:rPr lang="en-US" sz="3600" dirty="0" err="1">
                <a:solidFill>
                  <a:srgbClr val="C00000"/>
                </a:solidFill>
              </a:rPr>
              <a:t>Disadoption</a:t>
            </a:r>
            <a:r>
              <a:rPr lang="en-US" sz="3600" dirty="0">
                <a:solidFill>
                  <a:srgbClr val="C00000"/>
                </a:solidFill>
              </a:rPr>
              <a:t> Process: Social Network Influences on Stable and Temporary Quitting </a:t>
            </a:r>
            <a:br>
              <a:rPr lang="en-US" sz="3600" dirty="0">
                <a:solidFill>
                  <a:srgbClr val="C00000"/>
                </a:solidFill>
              </a:rPr>
            </a:br>
            <a:endParaRPr lang="en-US" sz="3600" dirty="0">
              <a:solidFill>
                <a:srgbClr val="C00000"/>
              </a:solidFill>
            </a:endParaRPr>
          </a:p>
        </p:txBody>
      </p:sp>
      <p:sp>
        <p:nvSpPr>
          <p:cNvPr id="3" name="Content Placeholder 2">
            <a:extLst>
              <a:ext uri="{FF2B5EF4-FFF2-40B4-BE49-F238E27FC236}">
                <a16:creationId xmlns:a16="http://schemas.microsoft.com/office/drawing/2014/main" id="{7A206D9D-DCF2-18E5-6735-B99F0064CFAF}"/>
              </a:ext>
            </a:extLst>
          </p:cNvPr>
          <p:cNvSpPr>
            <a:spLocks noGrp="1"/>
          </p:cNvSpPr>
          <p:nvPr>
            <p:ph idx="1"/>
          </p:nvPr>
        </p:nvSpPr>
        <p:spPr>
          <a:xfrm>
            <a:off x="457200" y="2971800"/>
            <a:ext cx="8229600" cy="3154363"/>
          </a:xfrm>
        </p:spPr>
        <p:txBody>
          <a:bodyPr/>
          <a:lstStyle/>
          <a:p>
            <a:pPr marL="0" indent="0" algn="ctr" eaLnBrk="1" hangingPunct="1">
              <a:buNone/>
            </a:pPr>
            <a:r>
              <a:rPr lang="en-US" altLang="en-US" dirty="0"/>
              <a:t>Sunbelt  </a:t>
            </a:r>
          </a:p>
          <a:p>
            <a:pPr marL="0" indent="0" algn="ctr" eaLnBrk="1" hangingPunct="1">
              <a:buNone/>
            </a:pPr>
            <a:r>
              <a:rPr lang="en-US" altLang="en-US" dirty="0"/>
              <a:t>INSNA 2026</a:t>
            </a:r>
          </a:p>
          <a:p>
            <a:pPr marL="0" indent="0" algn="ctr" eaLnBrk="1" hangingPunct="1">
              <a:buNone/>
            </a:pPr>
            <a:r>
              <a:rPr lang="en-US" altLang="en-US" dirty="0"/>
              <a:t>Daytona Beach, FL, USA</a:t>
            </a:r>
          </a:p>
          <a:p>
            <a:pPr marL="0" indent="0">
              <a:buNone/>
            </a:pPr>
            <a:endParaRPr lang="en-US" dirty="0"/>
          </a:p>
        </p:txBody>
      </p:sp>
      <p:sp>
        <p:nvSpPr>
          <p:cNvPr id="4" name="Date Placeholder 3">
            <a:extLst>
              <a:ext uri="{FF2B5EF4-FFF2-40B4-BE49-F238E27FC236}">
                <a16:creationId xmlns:a16="http://schemas.microsoft.com/office/drawing/2014/main" id="{DD47D1BD-36FE-57E8-419E-7952EBD930E6}"/>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74BD48A3-51A3-6488-E8E7-B6612B08E019}"/>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a:t>
            </a:fld>
            <a:endParaRPr lang="en-US" dirty="0"/>
          </a:p>
        </p:txBody>
      </p:sp>
    </p:spTree>
    <p:extLst>
      <p:ext uri="{BB962C8B-B14F-4D97-AF65-F5344CB8AC3E}">
        <p14:creationId xmlns:p14="http://schemas.microsoft.com/office/powerpoint/2010/main" val="123107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F44AC-0B9D-DAAD-7EE3-F8837F05F4BF}"/>
              </a:ext>
            </a:extLst>
          </p:cNvPr>
          <p:cNvSpPr>
            <a:spLocks noGrp="1"/>
          </p:cNvSpPr>
          <p:nvPr>
            <p:ph type="title"/>
          </p:nvPr>
        </p:nvSpPr>
        <p:spPr/>
        <p:txBody>
          <a:bodyPr/>
          <a:lstStyle/>
          <a:p>
            <a:r>
              <a:rPr lang="en-US" dirty="0"/>
              <a:t>Authors</a:t>
            </a:r>
          </a:p>
        </p:txBody>
      </p:sp>
      <p:sp>
        <p:nvSpPr>
          <p:cNvPr id="3" name="Content Placeholder 2">
            <a:extLst>
              <a:ext uri="{FF2B5EF4-FFF2-40B4-BE49-F238E27FC236}">
                <a16:creationId xmlns:a16="http://schemas.microsoft.com/office/drawing/2014/main" id="{D953823B-0D8E-D13D-6075-47E65D9A5DAF}"/>
              </a:ext>
            </a:extLst>
          </p:cNvPr>
          <p:cNvSpPr>
            <a:spLocks noGrp="1"/>
          </p:cNvSpPr>
          <p:nvPr>
            <p:ph idx="1"/>
          </p:nvPr>
        </p:nvSpPr>
        <p:spPr/>
        <p:txBody>
          <a:bodyPr/>
          <a:lstStyle/>
          <a:p>
            <a:pPr algn="ctr">
              <a:spcBef>
                <a:spcPts val="0"/>
              </a:spcBef>
              <a:buNone/>
            </a:pPr>
            <a:r>
              <a:rPr lang="en-US" altLang="en-US" dirty="0"/>
              <a:t>Anibal Olivera Morales, MSc</a:t>
            </a:r>
          </a:p>
          <a:p>
            <a:pPr algn="ctr">
              <a:spcBef>
                <a:spcPts val="0"/>
              </a:spcBef>
              <a:buFontTx/>
              <a:buNone/>
            </a:pPr>
            <a:r>
              <a:rPr lang="en-US" dirty="0">
                <a:effectLst/>
                <a:ea typeface="Times New Roman" panose="02020603050405020304" pitchFamily="18" charset="0"/>
              </a:rPr>
              <a:t>Kristina Miljkovic, MS</a:t>
            </a:r>
          </a:p>
          <a:p>
            <a:pPr algn="ctr">
              <a:spcBef>
                <a:spcPts val="0"/>
              </a:spcBef>
              <a:buFontTx/>
              <a:buNone/>
            </a:pPr>
            <a:r>
              <a:rPr lang="en-US" dirty="0">
                <a:ea typeface="Calibri" panose="020F0502020204030204" pitchFamily="34" charset="0"/>
              </a:rPr>
              <a:t>Yuchan, Cao, MPH</a:t>
            </a:r>
          </a:p>
          <a:p>
            <a:pPr algn="ctr">
              <a:spcBef>
                <a:spcPts val="0"/>
              </a:spcBef>
              <a:buNone/>
            </a:pPr>
            <a:r>
              <a:rPr lang="en-US" dirty="0">
                <a:ea typeface="Times New Roman" panose="02020603050405020304" pitchFamily="18" charset="0"/>
              </a:rPr>
              <a:t>Sarah E. Piombo, PhD</a:t>
            </a:r>
            <a:endParaRPr lang="en-US" dirty="0">
              <a:effectLst/>
              <a:ea typeface="Calibri" panose="020F0502020204030204" pitchFamily="34" charset="0"/>
            </a:endParaRPr>
          </a:p>
          <a:p>
            <a:pPr algn="ctr">
              <a:spcBef>
                <a:spcPts val="0"/>
              </a:spcBef>
              <a:buNone/>
            </a:pPr>
            <a:r>
              <a:rPr lang="en-US" dirty="0">
                <a:effectLst/>
                <a:ea typeface="Times New Roman" panose="02020603050405020304" pitchFamily="18" charset="0"/>
              </a:rPr>
              <a:t>Jessica Barrington-Trimis, PhD</a:t>
            </a:r>
          </a:p>
          <a:p>
            <a:pPr algn="ctr">
              <a:spcBef>
                <a:spcPts val="0"/>
              </a:spcBef>
              <a:buFontTx/>
              <a:buNone/>
            </a:pPr>
            <a:r>
              <a:rPr lang="en-US" altLang="en-US" dirty="0"/>
              <a:t> University of Southern California</a:t>
            </a:r>
          </a:p>
          <a:p>
            <a:pPr algn="ctr">
              <a:spcBef>
                <a:spcPts val="0"/>
              </a:spcBef>
              <a:buFontTx/>
              <a:buNone/>
            </a:pPr>
            <a:r>
              <a:rPr lang="en-US" altLang="en-US" dirty="0"/>
              <a:t>&amp; </a:t>
            </a:r>
          </a:p>
          <a:p>
            <a:pPr marL="0" indent="0" algn="ctr">
              <a:buNone/>
            </a:pPr>
            <a:r>
              <a:rPr lang="en-US" altLang="en-US" dirty="0"/>
              <a:t>Thomas W. Valente, PhD</a:t>
            </a:r>
          </a:p>
          <a:p>
            <a:pPr algn="ctr"/>
            <a:endParaRPr lang="en-US" dirty="0"/>
          </a:p>
        </p:txBody>
      </p:sp>
      <p:sp>
        <p:nvSpPr>
          <p:cNvPr id="4" name="Date Placeholder 3">
            <a:extLst>
              <a:ext uri="{FF2B5EF4-FFF2-40B4-BE49-F238E27FC236}">
                <a16:creationId xmlns:a16="http://schemas.microsoft.com/office/drawing/2014/main" id="{C9C67FA3-04D0-705F-3F63-DBE9FD2D736D}"/>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A3A19E36-B131-97B3-F2CB-6F25C49AC269}"/>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106962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E183-2DA4-A8B0-7481-A955A9695099}"/>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037236E2-A650-D6F1-525A-D1EF58240A80}"/>
              </a:ext>
            </a:extLst>
          </p:cNvPr>
          <p:cNvSpPr>
            <a:spLocks noGrp="1"/>
          </p:cNvSpPr>
          <p:nvPr>
            <p:ph idx="1"/>
          </p:nvPr>
        </p:nvSpPr>
        <p:spPr/>
        <p:txBody>
          <a:bodyPr/>
          <a:lstStyle/>
          <a:p>
            <a:r>
              <a:rPr lang="en-US" dirty="0"/>
              <a:t>This work was partially supported by </a:t>
            </a:r>
            <a:r>
              <a:rPr lang="en-US" dirty="0">
                <a:effectLst/>
                <a:ea typeface="Calibri" panose="020F0502020204030204" pitchFamily="34" charset="0"/>
              </a:rPr>
              <a:t>grant #R01-DA051843 from the National Institute of Drug Abuse (NIDA), the National Institutes of Health (NIH). </a:t>
            </a:r>
          </a:p>
          <a:p>
            <a:r>
              <a:rPr lang="en-US" dirty="0"/>
              <a:t>Feedback from members of the Center for Applied Network Analysis (CANA) at USC.</a:t>
            </a:r>
          </a:p>
        </p:txBody>
      </p:sp>
      <p:sp>
        <p:nvSpPr>
          <p:cNvPr id="4" name="Date Placeholder 3">
            <a:extLst>
              <a:ext uri="{FF2B5EF4-FFF2-40B4-BE49-F238E27FC236}">
                <a16:creationId xmlns:a16="http://schemas.microsoft.com/office/drawing/2014/main" id="{B5FE84AD-4FA3-0961-F5FB-C5E0669D2514}"/>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7C5B12DA-B153-6AC2-2895-93CF0460D969}"/>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871308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C1B17-D104-3EDF-089E-BC18A1C3C8A7}"/>
              </a:ext>
            </a:extLst>
          </p:cNvPr>
          <p:cNvSpPr>
            <a:spLocks noGrp="1"/>
          </p:cNvSpPr>
          <p:nvPr>
            <p:ph type="title"/>
          </p:nvPr>
        </p:nvSpPr>
        <p:spPr/>
        <p:txBody>
          <a:bodyPr/>
          <a:lstStyle/>
          <a:p>
            <a:r>
              <a:rPr lang="en-US" dirty="0"/>
              <a:t>Data Collection</a:t>
            </a:r>
          </a:p>
        </p:txBody>
      </p:sp>
      <p:graphicFrame>
        <p:nvGraphicFramePr>
          <p:cNvPr id="4" name="Content Placeholder 3">
            <a:extLst>
              <a:ext uri="{FF2B5EF4-FFF2-40B4-BE49-F238E27FC236}">
                <a16:creationId xmlns:a16="http://schemas.microsoft.com/office/drawing/2014/main" id="{DB4608F4-3A11-DE77-3940-6139FF18F22F}"/>
              </a:ext>
            </a:extLst>
          </p:cNvPr>
          <p:cNvGraphicFramePr>
            <a:graphicFrameLocks noGrp="1"/>
          </p:cNvGraphicFramePr>
          <p:nvPr>
            <p:ph idx="1"/>
            <p:extLst>
              <p:ext uri="{D42A27DB-BD31-4B8C-83A1-F6EECF244321}">
                <p14:modId xmlns:p14="http://schemas.microsoft.com/office/powerpoint/2010/main" val="2285765674"/>
              </p:ext>
            </p:extLst>
          </p:nvPr>
        </p:nvGraphicFramePr>
        <p:xfrm>
          <a:off x="152400" y="1615440"/>
          <a:ext cx="8839200" cy="3048000"/>
        </p:xfrm>
        <a:graphic>
          <a:graphicData uri="http://schemas.openxmlformats.org/drawingml/2006/table">
            <a:tbl>
              <a:tblPr>
                <a:tableStyleId>{5C22544A-7EE6-4342-B048-85BDC9FD1C3A}</a:tableStyleId>
              </a:tblPr>
              <a:tblGrid>
                <a:gridCol w="1250960">
                  <a:extLst>
                    <a:ext uri="{9D8B030D-6E8A-4147-A177-3AD203B41FA5}">
                      <a16:colId xmlns:a16="http://schemas.microsoft.com/office/drawing/2014/main" val="1805607315"/>
                    </a:ext>
                  </a:extLst>
                </a:gridCol>
                <a:gridCol w="948530">
                  <a:extLst>
                    <a:ext uri="{9D8B030D-6E8A-4147-A177-3AD203B41FA5}">
                      <a16:colId xmlns:a16="http://schemas.microsoft.com/office/drawing/2014/main" val="1896020971"/>
                    </a:ext>
                  </a:extLst>
                </a:gridCol>
                <a:gridCol w="948530">
                  <a:extLst>
                    <a:ext uri="{9D8B030D-6E8A-4147-A177-3AD203B41FA5}">
                      <a16:colId xmlns:a16="http://schemas.microsoft.com/office/drawing/2014/main" val="1424980213"/>
                    </a:ext>
                  </a:extLst>
                </a:gridCol>
                <a:gridCol w="948530">
                  <a:extLst>
                    <a:ext uri="{9D8B030D-6E8A-4147-A177-3AD203B41FA5}">
                      <a16:colId xmlns:a16="http://schemas.microsoft.com/office/drawing/2014/main" val="2151851521"/>
                    </a:ext>
                  </a:extLst>
                </a:gridCol>
                <a:gridCol w="948530">
                  <a:extLst>
                    <a:ext uri="{9D8B030D-6E8A-4147-A177-3AD203B41FA5}">
                      <a16:colId xmlns:a16="http://schemas.microsoft.com/office/drawing/2014/main" val="1388028110"/>
                    </a:ext>
                  </a:extLst>
                </a:gridCol>
                <a:gridCol w="948530">
                  <a:extLst>
                    <a:ext uri="{9D8B030D-6E8A-4147-A177-3AD203B41FA5}">
                      <a16:colId xmlns:a16="http://schemas.microsoft.com/office/drawing/2014/main" val="1010167216"/>
                    </a:ext>
                  </a:extLst>
                </a:gridCol>
                <a:gridCol w="948530">
                  <a:extLst>
                    <a:ext uri="{9D8B030D-6E8A-4147-A177-3AD203B41FA5}">
                      <a16:colId xmlns:a16="http://schemas.microsoft.com/office/drawing/2014/main" val="3152563840"/>
                    </a:ext>
                  </a:extLst>
                </a:gridCol>
                <a:gridCol w="948530">
                  <a:extLst>
                    <a:ext uri="{9D8B030D-6E8A-4147-A177-3AD203B41FA5}">
                      <a16:colId xmlns:a16="http://schemas.microsoft.com/office/drawing/2014/main" val="832394167"/>
                    </a:ext>
                  </a:extLst>
                </a:gridCol>
                <a:gridCol w="948530">
                  <a:extLst>
                    <a:ext uri="{9D8B030D-6E8A-4147-A177-3AD203B41FA5}">
                      <a16:colId xmlns:a16="http://schemas.microsoft.com/office/drawing/2014/main" val="126487142"/>
                    </a:ext>
                  </a:extLst>
                </a:gridCol>
              </a:tblGrid>
              <a:tr h="457200">
                <a:tc>
                  <a:txBody>
                    <a:bodyPr/>
                    <a:lstStyle/>
                    <a:p>
                      <a:pPr algn="l" fontAlgn="b"/>
                      <a:r>
                        <a:rPr lang="en-US" sz="1800" u="none" strike="noStrike" dirty="0">
                          <a:effectLst/>
                        </a:rPr>
                        <a:t>Wave</a:t>
                      </a:r>
                      <a:endParaRPr lang="en-US"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2</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4</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5</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6</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7</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8</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8353780"/>
                  </a:ext>
                </a:extLst>
              </a:tr>
              <a:tr h="762000">
                <a:tc>
                  <a:txBody>
                    <a:bodyPr/>
                    <a:lstStyle/>
                    <a:p>
                      <a:pPr algn="l" fontAlgn="b"/>
                      <a:r>
                        <a:rPr lang="en-US" sz="1800" u="none" strike="noStrike">
                          <a:effectLst/>
                        </a:rPr>
                        <a:t>Time</a:t>
                      </a:r>
                      <a:endParaRPr lang="en-US"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Fall 2020</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Spring 2021</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Fall 2021</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Spring 2022</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Fall 2022</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Spring 2023</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Fall 2023</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Spring 2024</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75488845"/>
                  </a:ext>
                </a:extLst>
              </a:tr>
              <a:tr h="533400">
                <a:tc>
                  <a:txBody>
                    <a:bodyPr/>
                    <a:lstStyle/>
                    <a:p>
                      <a:pPr algn="l" fontAlgn="b"/>
                      <a:r>
                        <a:rPr lang="en-US" sz="1800" u="none" strike="noStrike" dirty="0">
                          <a:effectLst/>
                        </a:rPr>
                        <a:t>Grade-C1</a:t>
                      </a:r>
                      <a:endParaRPr lang="en-US"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9th</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9th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10th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10th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11th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11th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12th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12th</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0178313"/>
                  </a:ext>
                </a:extLst>
              </a:tr>
              <a:tr h="368300">
                <a:tc>
                  <a:txBody>
                    <a:bodyPr/>
                    <a:lstStyle/>
                    <a:p>
                      <a:pPr algn="l" fontAlgn="b"/>
                      <a:r>
                        <a:rPr lang="en-US" sz="1800" u="none" strike="noStrike" dirty="0">
                          <a:effectLst/>
                        </a:rPr>
                        <a:t>Grade-C2 </a:t>
                      </a:r>
                      <a:endParaRPr lang="en-US"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9th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9th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10th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10th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11th</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11th</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65841268"/>
                  </a:ext>
                </a:extLst>
              </a:tr>
              <a:tr h="368300">
                <a:tc>
                  <a:txBody>
                    <a:bodyPr/>
                    <a:lstStyle/>
                    <a:p>
                      <a:pPr algn="l" fontAlgn="b"/>
                      <a:r>
                        <a:rPr lang="en-US" sz="1800" u="none" strike="noStrike" dirty="0">
                          <a:effectLst/>
                        </a:rPr>
                        <a:t>N Schools</a:t>
                      </a:r>
                      <a:endParaRPr lang="en-US"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5</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14</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63451466"/>
                  </a:ext>
                </a:extLst>
              </a:tr>
              <a:tr h="558800">
                <a:tc>
                  <a:txBody>
                    <a:bodyPr/>
                    <a:lstStyle/>
                    <a:p>
                      <a:pPr algn="l" fontAlgn="b"/>
                      <a:r>
                        <a:rPr lang="en-US" sz="1800" u="none" strike="noStrike" dirty="0">
                          <a:effectLst/>
                        </a:rPr>
                        <a:t>N Students</a:t>
                      </a:r>
                      <a:endParaRPr lang="en-US" sz="18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852</a:t>
                      </a:r>
                      <a:endParaRPr lang="en-US" sz="14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3,525</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3,539</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3,379</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3,123</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a:effectLst/>
                        </a:rPr>
                        <a:t>2,097</a:t>
                      </a:r>
                      <a:endParaRPr lang="en-US" sz="14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400" u="none" strike="noStrike" dirty="0">
                          <a:effectLst/>
                        </a:rPr>
                        <a:t>1919</a:t>
                      </a:r>
                      <a:endParaRPr lang="en-US" sz="14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58623141"/>
                  </a:ext>
                </a:extLst>
              </a:tr>
            </a:tbl>
          </a:graphicData>
        </a:graphic>
      </p:graphicFrame>
      <p:sp>
        <p:nvSpPr>
          <p:cNvPr id="5" name="Oval 4">
            <a:extLst>
              <a:ext uri="{FF2B5EF4-FFF2-40B4-BE49-F238E27FC236}">
                <a16:creationId xmlns:a16="http://schemas.microsoft.com/office/drawing/2014/main" id="{44D596BB-F322-B626-097E-81B24520C2AB}"/>
              </a:ext>
            </a:extLst>
          </p:cNvPr>
          <p:cNvSpPr/>
          <p:nvPr/>
        </p:nvSpPr>
        <p:spPr bwMode="auto">
          <a:xfrm>
            <a:off x="1407160" y="2392998"/>
            <a:ext cx="990600" cy="6096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6" name="Oval 5">
            <a:extLst>
              <a:ext uri="{FF2B5EF4-FFF2-40B4-BE49-F238E27FC236}">
                <a16:creationId xmlns:a16="http://schemas.microsoft.com/office/drawing/2014/main" id="{7B3F678E-A194-15A7-42C5-10ED08F6281F}"/>
              </a:ext>
            </a:extLst>
          </p:cNvPr>
          <p:cNvSpPr/>
          <p:nvPr/>
        </p:nvSpPr>
        <p:spPr bwMode="auto">
          <a:xfrm>
            <a:off x="2402840" y="2392998"/>
            <a:ext cx="990600" cy="6096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graphicFrame>
        <p:nvGraphicFramePr>
          <p:cNvPr id="7" name="Table 6">
            <a:extLst>
              <a:ext uri="{FF2B5EF4-FFF2-40B4-BE49-F238E27FC236}">
                <a16:creationId xmlns:a16="http://schemas.microsoft.com/office/drawing/2014/main" id="{4437DB5F-2B5B-EC43-09EA-F483915F5AB7}"/>
              </a:ext>
            </a:extLst>
          </p:cNvPr>
          <p:cNvGraphicFramePr>
            <a:graphicFrameLocks noGrp="1"/>
          </p:cNvGraphicFramePr>
          <p:nvPr>
            <p:extLst>
              <p:ext uri="{D42A27DB-BD31-4B8C-83A1-F6EECF244321}">
                <p14:modId xmlns:p14="http://schemas.microsoft.com/office/powerpoint/2010/main" val="3906587428"/>
              </p:ext>
            </p:extLst>
          </p:nvPr>
        </p:nvGraphicFramePr>
        <p:xfrm>
          <a:off x="685800" y="5303202"/>
          <a:ext cx="6858001" cy="945198"/>
        </p:xfrm>
        <a:graphic>
          <a:graphicData uri="http://schemas.openxmlformats.org/drawingml/2006/table">
            <a:tbl>
              <a:tblPr>
                <a:tableStyleId>{5C22544A-7EE6-4342-B048-85BDC9FD1C3A}</a:tableStyleId>
              </a:tblPr>
              <a:tblGrid>
                <a:gridCol w="3048000">
                  <a:extLst>
                    <a:ext uri="{9D8B030D-6E8A-4147-A177-3AD203B41FA5}">
                      <a16:colId xmlns:a16="http://schemas.microsoft.com/office/drawing/2014/main" val="3973090783"/>
                    </a:ext>
                  </a:extLst>
                </a:gridCol>
                <a:gridCol w="1371600">
                  <a:extLst>
                    <a:ext uri="{9D8B030D-6E8A-4147-A177-3AD203B41FA5}">
                      <a16:colId xmlns:a16="http://schemas.microsoft.com/office/drawing/2014/main" val="1485032744"/>
                    </a:ext>
                  </a:extLst>
                </a:gridCol>
                <a:gridCol w="2438401">
                  <a:extLst>
                    <a:ext uri="{9D8B030D-6E8A-4147-A177-3AD203B41FA5}">
                      <a16:colId xmlns:a16="http://schemas.microsoft.com/office/drawing/2014/main" val="3021295170"/>
                    </a:ext>
                  </a:extLst>
                </a:gridCol>
              </a:tblGrid>
              <a:tr h="472599">
                <a:tc>
                  <a:txBody>
                    <a:bodyPr/>
                    <a:lstStyle/>
                    <a:p>
                      <a:pPr algn="l" fontAlgn="b"/>
                      <a:r>
                        <a:rPr lang="en-US" sz="2000" u="none" strike="noStrike" dirty="0">
                          <a:effectLst/>
                        </a:rPr>
                        <a:t>No. of schools/networks</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b="0" i="0" u="none" strike="noStrike" dirty="0">
                          <a:solidFill>
                            <a:srgbClr val="000000"/>
                          </a:solidFill>
                          <a:effectLst/>
                          <a:latin typeface="Calibri" panose="020F0502020204030204" pitchFamily="34" charset="0"/>
                        </a:rPr>
                        <a:t>11 Unique Schools</a:t>
                      </a:r>
                    </a:p>
                  </a:txBody>
                  <a:tcPr marL="6350" marR="6350" marT="6350" marB="0" anchor="b"/>
                </a:tc>
                <a:extLst>
                  <a:ext uri="{0D108BD9-81ED-4DB2-BD59-A6C34878D82A}">
                    <a16:rowId xmlns:a16="http://schemas.microsoft.com/office/drawing/2014/main" val="3470747739"/>
                  </a:ext>
                </a:extLst>
              </a:tr>
              <a:tr h="472599">
                <a:tc>
                  <a:txBody>
                    <a:bodyPr/>
                    <a:lstStyle/>
                    <a:p>
                      <a:pPr algn="l" fontAlgn="b"/>
                      <a:r>
                        <a:rPr lang="en-US" sz="2000" u="none" strike="noStrike">
                          <a:effectLst/>
                        </a:rPr>
                        <a:t>No. of students</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23,012</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89974144"/>
                  </a:ext>
                </a:extLst>
              </a:tr>
            </a:tbl>
          </a:graphicData>
        </a:graphic>
      </p:graphicFrame>
      <p:sp>
        <p:nvSpPr>
          <p:cNvPr id="3" name="Date Placeholder 2">
            <a:extLst>
              <a:ext uri="{FF2B5EF4-FFF2-40B4-BE49-F238E27FC236}">
                <a16:creationId xmlns:a16="http://schemas.microsoft.com/office/drawing/2014/main" id="{45C68B0D-A0A0-43F6-59E6-B912F9C867AB}"/>
              </a:ext>
            </a:extLst>
          </p:cNvPr>
          <p:cNvSpPr>
            <a:spLocks noGrp="1"/>
          </p:cNvSpPr>
          <p:nvPr>
            <p:ph type="dt" sz="half" idx="10"/>
          </p:nvPr>
        </p:nvSpPr>
        <p:spPr/>
        <p:txBody>
          <a:bodyPr/>
          <a:lstStyle/>
          <a:p>
            <a:pPr>
              <a:defRPr/>
            </a:pPr>
            <a:endParaRPr lang="en-US" dirty="0"/>
          </a:p>
        </p:txBody>
      </p:sp>
      <p:sp>
        <p:nvSpPr>
          <p:cNvPr id="9" name="Footer Placeholder 8">
            <a:extLst>
              <a:ext uri="{FF2B5EF4-FFF2-40B4-BE49-F238E27FC236}">
                <a16:creationId xmlns:a16="http://schemas.microsoft.com/office/drawing/2014/main" id="{B14F96C5-95C7-00CF-D01B-0BC6709ABE68}"/>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35784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987EB-5267-FCA1-22DF-E91EDCE0A7CC}"/>
              </a:ext>
            </a:extLst>
          </p:cNvPr>
          <p:cNvSpPr>
            <a:spLocks noGrp="1"/>
          </p:cNvSpPr>
          <p:nvPr>
            <p:ph type="title"/>
          </p:nvPr>
        </p:nvSpPr>
        <p:spPr>
          <a:xfrm>
            <a:off x="381000" y="914400"/>
            <a:ext cx="8229600" cy="808038"/>
          </a:xfrm>
        </p:spPr>
        <p:txBody>
          <a:bodyPr/>
          <a:lstStyle/>
          <a:p>
            <a:r>
              <a:rPr lang="en-US" dirty="0"/>
              <a:t>Network Question </a:t>
            </a:r>
            <a:br>
              <a:rPr lang="en-US" dirty="0"/>
            </a:br>
            <a:r>
              <a:rPr lang="en-US" dirty="0"/>
              <a:t>(Roster Pre-loaded)</a:t>
            </a:r>
          </a:p>
        </p:txBody>
      </p:sp>
      <p:sp>
        <p:nvSpPr>
          <p:cNvPr id="4" name="Rectangle 1">
            <a:extLst>
              <a:ext uri="{FF2B5EF4-FFF2-40B4-BE49-F238E27FC236}">
                <a16:creationId xmlns:a16="http://schemas.microsoft.com/office/drawing/2014/main" id="{5DBE331B-BD3B-3A65-2B26-563F27019407}"/>
              </a:ext>
            </a:extLst>
          </p:cNvPr>
          <p:cNvSpPr>
            <a:spLocks noGrp="1" noChangeArrowheads="1"/>
          </p:cNvSpPr>
          <p:nvPr>
            <p:ph idx="1"/>
          </p:nvPr>
        </p:nvSpPr>
        <p:spPr bwMode="auto">
          <a:xfrm>
            <a:off x="190500" y="2667000"/>
            <a:ext cx="8762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Name up to seven (7) of your closest friends in your grade at school in the spaces below. Enter your friend's</a:t>
            </a:r>
            <a:r>
              <a:rPr kumimoji="0" lang="en-US" altLang="en-US" sz="24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r>
              <a:rPr kumimoji="0" lang="en-US" altLang="en-US" sz="24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first and last real name, not their nickname.  For example, if you call your friend “Tony” but his real name is “Anthony Smith,” enter “Anthony Smith.”  As you enter the first few letters of their first name, possible choices will automatically appear on the screen. Please select the friend you want to name. If no name matches, just enter the name you wish to enter.</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3" name="Date Placeholder 2">
            <a:extLst>
              <a:ext uri="{FF2B5EF4-FFF2-40B4-BE49-F238E27FC236}">
                <a16:creationId xmlns:a16="http://schemas.microsoft.com/office/drawing/2014/main" id="{B1E75B4C-6A7E-CF98-8BFF-5A05DD55971A}"/>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F237874A-8E1A-9CA5-74CA-AD83608AE5D4}"/>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4160010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3BDA5-57E4-7420-85ED-9C6A7AD0F977}"/>
              </a:ext>
            </a:extLst>
          </p:cNvPr>
          <p:cNvSpPr>
            <a:spLocks noGrp="1"/>
          </p:cNvSpPr>
          <p:nvPr>
            <p:ph type="title"/>
          </p:nvPr>
        </p:nvSpPr>
        <p:spPr/>
        <p:txBody>
          <a:bodyPr/>
          <a:lstStyle/>
          <a:p>
            <a:r>
              <a:rPr lang="en-US" dirty="0"/>
              <a:t>Outcomes:</a:t>
            </a:r>
          </a:p>
        </p:txBody>
      </p:sp>
      <p:sp>
        <p:nvSpPr>
          <p:cNvPr id="3" name="Content Placeholder 2">
            <a:extLst>
              <a:ext uri="{FF2B5EF4-FFF2-40B4-BE49-F238E27FC236}">
                <a16:creationId xmlns:a16="http://schemas.microsoft.com/office/drawing/2014/main" id="{2A92D930-0786-DC84-4E9C-CCBD72EC5941}"/>
              </a:ext>
            </a:extLst>
          </p:cNvPr>
          <p:cNvSpPr>
            <a:spLocks noGrp="1"/>
          </p:cNvSpPr>
          <p:nvPr>
            <p:ph idx="1"/>
          </p:nvPr>
        </p:nvSpPr>
        <p:spPr/>
        <p:txBody>
          <a:bodyPr/>
          <a:lstStyle/>
          <a:p>
            <a:r>
              <a:rPr lang="en-US" dirty="0"/>
              <a:t>Past 6-month use of E-cigarettes</a:t>
            </a:r>
          </a:p>
          <a:p>
            <a:r>
              <a:rPr lang="en-US" dirty="0"/>
              <a:t>Also assessed Ever-use</a:t>
            </a:r>
          </a:p>
          <a:p>
            <a:r>
              <a:rPr lang="en-US" dirty="0"/>
              <a:t>Also asked about other substances …</a:t>
            </a:r>
          </a:p>
        </p:txBody>
      </p:sp>
      <p:sp>
        <p:nvSpPr>
          <p:cNvPr id="4" name="Date Placeholder 3">
            <a:extLst>
              <a:ext uri="{FF2B5EF4-FFF2-40B4-BE49-F238E27FC236}">
                <a16:creationId xmlns:a16="http://schemas.microsoft.com/office/drawing/2014/main" id="{C03012DE-3C4E-B884-83ED-58F8B3A97719}"/>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AE8540AD-F67D-36CE-0A28-FD16D8F1E9FF}"/>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1066953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EF67-8B97-C649-25FA-F6AF8406E38F}"/>
              </a:ext>
            </a:extLst>
          </p:cNvPr>
          <p:cNvSpPr>
            <a:spLocks noGrp="1"/>
          </p:cNvSpPr>
          <p:nvPr>
            <p:ph type="title"/>
          </p:nvPr>
        </p:nvSpPr>
        <p:spPr/>
        <p:txBody>
          <a:bodyPr/>
          <a:lstStyle/>
          <a:p>
            <a:r>
              <a:rPr lang="en-US" dirty="0"/>
              <a:t>Covariate Controls</a:t>
            </a:r>
          </a:p>
        </p:txBody>
      </p:sp>
      <p:sp>
        <p:nvSpPr>
          <p:cNvPr id="3" name="Content Placeholder 2">
            <a:extLst>
              <a:ext uri="{FF2B5EF4-FFF2-40B4-BE49-F238E27FC236}">
                <a16:creationId xmlns:a16="http://schemas.microsoft.com/office/drawing/2014/main" id="{2828AD65-0917-90AB-30A9-15164C317B98}"/>
              </a:ext>
            </a:extLst>
          </p:cNvPr>
          <p:cNvSpPr>
            <a:spLocks noGrp="1"/>
          </p:cNvSpPr>
          <p:nvPr>
            <p:ph idx="1"/>
          </p:nvPr>
        </p:nvSpPr>
        <p:spPr/>
        <p:txBody>
          <a:bodyPr/>
          <a:lstStyle/>
          <a:p>
            <a:r>
              <a:rPr lang="en-US" dirty="0"/>
              <a:t>Grade in school</a:t>
            </a:r>
          </a:p>
          <a:p>
            <a:r>
              <a:rPr lang="en-US" dirty="0"/>
              <a:t>Cohort (2025 vs. 2024)</a:t>
            </a:r>
          </a:p>
          <a:p>
            <a:r>
              <a:rPr lang="en-US" dirty="0"/>
              <a:t>Female identity</a:t>
            </a:r>
          </a:p>
          <a:p>
            <a:r>
              <a:rPr lang="en-US" dirty="0"/>
              <a:t>Sexual minority</a:t>
            </a:r>
          </a:p>
          <a:p>
            <a:r>
              <a:rPr lang="en-US" dirty="0"/>
              <a:t>Financial precariousness</a:t>
            </a:r>
          </a:p>
          <a:p>
            <a:r>
              <a:rPr lang="en-US" dirty="0"/>
              <a:t>Latine identity</a:t>
            </a:r>
          </a:p>
          <a:p>
            <a:r>
              <a:rPr lang="en-US" dirty="0"/>
              <a:t>Asian</a:t>
            </a:r>
          </a:p>
        </p:txBody>
      </p:sp>
      <p:sp>
        <p:nvSpPr>
          <p:cNvPr id="4" name="Date Placeholder 3">
            <a:extLst>
              <a:ext uri="{FF2B5EF4-FFF2-40B4-BE49-F238E27FC236}">
                <a16:creationId xmlns:a16="http://schemas.microsoft.com/office/drawing/2014/main" id="{8A2083A4-9142-BB32-F125-6C92DACB1F8C}"/>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8E5EDD66-AC78-322A-1F80-944CDC563144}"/>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2361079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8633-ECDE-51B4-AD8F-A74F102DD7E1}"/>
              </a:ext>
            </a:extLst>
          </p:cNvPr>
          <p:cNvSpPr>
            <a:spLocks noGrp="1"/>
          </p:cNvSpPr>
          <p:nvPr>
            <p:ph type="title"/>
          </p:nvPr>
        </p:nvSpPr>
        <p:spPr/>
        <p:txBody>
          <a:bodyPr/>
          <a:lstStyle/>
          <a:p>
            <a:r>
              <a:rPr lang="en-US" dirty="0"/>
              <a:t>Results: Demographics</a:t>
            </a:r>
          </a:p>
        </p:txBody>
      </p:sp>
      <p:graphicFrame>
        <p:nvGraphicFramePr>
          <p:cNvPr id="4" name="Content Placeholder 3">
            <a:extLst>
              <a:ext uri="{FF2B5EF4-FFF2-40B4-BE49-F238E27FC236}">
                <a16:creationId xmlns:a16="http://schemas.microsoft.com/office/drawing/2014/main" id="{05D83DFF-7CC5-7DB3-D44B-CF8A673241E6}"/>
              </a:ext>
            </a:extLst>
          </p:cNvPr>
          <p:cNvGraphicFramePr>
            <a:graphicFrameLocks noGrp="1"/>
          </p:cNvGraphicFramePr>
          <p:nvPr>
            <p:ph idx="1"/>
            <p:extLst>
              <p:ext uri="{D42A27DB-BD31-4B8C-83A1-F6EECF244321}">
                <p14:modId xmlns:p14="http://schemas.microsoft.com/office/powerpoint/2010/main" val="1670637448"/>
              </p:ext>
            </p:extLst>
          </p:nvPr>
        </p:nvGraphicFramePr>
        <p:xfrm>
          <a:off x="1295400" y="1676400"/>
          <a:ext cx="6248400" cy="4419600"/>
        </p:xfrm>
        <a:graphic>
          <a:graphicData uri="http://schemas.openxmlformats.org/drawingml/2006/table">
            <a:tbl>
              <a:tblPr>
                <a:tableStyleId>{5C22544A-7EE6-4342-B048-85BDC9FD1C3A}</a:tableStyleId>
              </a:tblPr>
              <a:tblGrid>
                <a:gridCol w="4950031">
                  <a:extLst>
                    <a:ext uri="{9D8B030D-6E8A-4147-A177-3AD203B41FA5}">
                      <a16:colId xmlns:a16="http://schemas.microsoft.com/office/drawing/2014/main" val="1731867121"/>
                    </a:ext>
                  </a:extLst>
                </a:gridCol>
                <a:gridCol w="1298369">
                  <a:extLst>
                    <a:ext uri="{9D8B030D-6E8A-4147-A177-3AD203B41FA5}">
                      <a16:colId xmlns:a16="http://schemas.microsoft.com/office/drawing/2014/main" val="759689771"/>
                    </a:ext>
                  </a:extLst>
                </a:gridCol>
              </a:tblGrid>
              <a:tr h="441960">
                <a:tc>
                  <a:txBody>
                    <a:bodyPr/>
                    <a:lstStyle/>
                    <a:p>
                      <a:pPr algn="l" fontAlgn="b"/>
                      <a:r>
                        <a:rPr lang="en-US" sz="2000" u="none" strike="noStrike" dirty="0">
                          <a:effectLst/>
                        </a:rPr>
                        <a:t>% Female</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52.3</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94564760"/>
                  </a:ext>
                </a:extLst>
              </a:tr>
              <a:tr h="441960">
                <a:tc>
                  <a:txBody>
                    <a:bodyPr/>
                    <a:lstStyle/>
                    <a:p>
                      <a:pPr algn="l" fontAlgn="b"/>
                      <a:r>
                        <a:rPr lang="en-US" sz="2000" u="none" strike="noStrike">
                          <a:effectLst/>
                        </a:rPr>
                        <a:t>% Financial Precariousness</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39.4</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73340936"/>
                  </a:ext>
                </a:extLst>
              </a:tr>
              <a:tr h="441960">
                <a:tc>
                  <a:txBody>
                    <a:bodyPr/>
                    <a:lstStyle/>
                    <a:p>
                      <a:pPr algn="l" fontAlgn="b"/>
                      <a:r>
                        <a:rPr lang="en-US" sz="2000" u="none" strike="noStrike">
                          <a:effectLst/>
                        </a:rPr>
                        <a:t>% Sexual Minority</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 6.8</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32674281"/>
                  </a:ext>
                </a:extLst>
              </a:tr>
              <a:tr h="441960">
                <a:tc>
                  <a:txBody>
                    <a:bodyPr/>
                    <a:lstStyle/>
                    <a:p>
                      <a:pPr algn="l" fontAlgn="b"/>
                      <a:r>
                        <a:rPr lang="en-US" sz="2000" u="none" strike="noStrike">
                          <a:effectLst/>
                        </a:rPr>
                        <a:t>Parental Education</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4.85</a:t>
                      </a:r>
                      <a:endParaRPr lang="en-US" sz="2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4761864"/>
                  </a:ext>
                </a:extLst>
              </a:tr>
              <a:tr h="441960">
                <a:tc>
                  <a:txBody>
                    <a:bodyPr/>
                    <a:lstStyle/>
                    <a:p>
                      <a:pPr algn="l" fontAlgn="b"/>
                      <a:r>
                        <a:rPr lang="en-US" sz="2000" u="none" strike="noStrike">
                          <a:effectLst/>
                        </a:rPr>
                        <a:t> </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03325318"/>
                  </a:ext>
                </a:extLst>
              </a:tr>
              <a:tr h="441960">
                <a:tc>
                  <a:txBody>
                    <a:bodyPr/>
                    <a:lstStyle/>
                    <a:p>
                      <a:pPr algn="l" fontAlgn="b"/>
                      <a:r>
                        <a:rPr lang="en-US" sz="2000" u="none" strike="noStrike">
                          <a:effectLst/>
                        </a:rPr>
                        <a:t>% Latine</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44.3</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89455395"/>
                  </a:ext>
                </a:extLst>
              </a:tr>
              <a:tr h="441960">
                <a:tc>
                  <a:txBody>
                    <a:bodyPr/>
                    <a:lstStyle/>
                    <a:p>
                      <a:pPr algn="l" fontAlgn="b"/>
                      <a:r>
                        <a:rPr lang="en-US" sz="2000" u="none" strike="noStrike">
                          <a:effectLst/>
                        </a:rPr>
                        <a:t>% Other</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33.4</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19790904"/>
                  </a:ext>
                </a:extLst>
              </a:tr>
              <a:tr h="441960">
                <a:tc>
                  <a:txBody>
                    <a:bodyPr/>
                    <a:lstStyle/>
                    <a:p>
                      <a:pPr algn="l" fontAlgn="b"/>
                      <a:r>
                        <a:rPr lang="en-US" sz="2000" u="none" strike="noStrike">
                          <a:effectLst/>
                        </a:rPr>
                        <a:t>% Asian</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34.5</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79213389"/>
                  </a:ext>
                </a:extLst>
              </a:tr>
              <a:tr h="441960">
                <a:tc>
                  <a:txBody>
                    <a:bodyPr/>
                    <a:lstStyle/>
                    <a:p>
                      <a:pPr algn="l" fontAlgn="b"/>
                      <a:r>
                        <a:rPr lang="en-US" sz="2000" u="none" strike="noStrike">
                          <a:effectLst/>
                        </a:rPr>
                        <a:t>% Multi</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17.9</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76872220"/>
                  </a:ext>
                </a:extLst>
              </a:tr>
              <a:tr h="441960">
                <a:tc>
                  <a:txBody>
                    <a:bodyPr/>
                    <a:lstStyle/>
                    <a:p>
                      <a:pPr algn="l" fontAlgn="b"/>
                      <a:r>
                        <a:rPr lang="en-US" sz="2000" u="none" strike="noStrike">
                          <a:effectLst/>
                        </a:rPr>
                        <a:t>% White</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14.2</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58615664"/>
                  </a:ext>
                </a:extLst>
              </a:tr>
            </a:tbl>
          </a:graphicData>
        </a:graphic>
      </p:graphicFrame>
      <p:sp>
        <p:nvSpPr>
          <p:cNvPr id="3" name="Date Placeholder 2">
            <a:extLst>
              <a:ext uri="{FF2B5EF4-FFF2-40B4-BE49-F238E27FC236}">
                <a16:creationId xmlns:a16="http://schemas.microsoft.com/office/drawing/2014/main" id="{EC683619-5231-8909-440D-8AACC5383B64}"/>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0858B3E7-9767-857C-452F-13346DD0DA4E}"/>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1320889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4D1E-AD74-4685-3014-B59BE9000850}"/>
              </a:ext>
            </a:extLst>
          </p:cNvPr>
          <p:cNvSpPr>
            <a:spLocks noGrp="1"/>
          </p:cNvSpPr>
          <p:nvPr>
            <p:ph type="title"/>
          </p:nvPr>
        </p:nvSpPr>
        <p:spPr/>
        <p:txBody>
          <a:bodyPr/>
          <a:lstStyle/>
          <a:p>
            <a:r>
              <a:rPr lang="en-US" dirty="0"/>
              <a:t>Network Data</a:t>
            </a:r>
          </a:p>
        </p:txBody>
      </p:sp>
      <p:graphicFrame>
        <p:nvGraphicFramePr>
          <p:cNvPr id="4" name="Content Placeholder 3">
            <a:extLst>
              <a:ext uri="{FF2B5EF4-FFF2-40B4-BE49-F238E27FC236}">
                <a16:creationId xmlns:a16="http://schemas.microsoft.com/office/drawing/2014/main" id="{B7D0476A-3C4E-90CA-20BB-5478FA32F283}"/>
              </a:ext>
            </a:extLst>
          </p:cNvPr>
          <p:cNvGraphicFramePr>
            <a:graphicFrameLocks noGrp="1"/>
          </p:cNvGraphicFramePr>
          <p:nvPr>
            <p:ph idx="1"/>
            <p:extLst>
              <p:ext uri="{D42A27DB-BD31-4B8C-83A1-F6EECF244321}">
                <p14:modId xmlns:p14="http://schemas.microsoft.com/office/powerpoint/2010/main" val="2250220435"/>
              </p:ext>
            </p:extLst>
          </p:nvPr>
        </p:nvGraphicFramePr>
        <p:xfrm>
          <a:off x="533400" y="1752600"/>
          <a:ext cx="8153399" cy="4648198"/>
        </p:xfrm>
        <a:graphic>
          <a:graphicData uri="http://schemas.openxmlformats.org/drawingml/2006/table">
            <a:tbl>
              <a:tblPr>
                <a:tableStyleId>{5C22544A-7EE6-4342-B048-85BDC9FD1C3A}</a:tableStyleId>
              </a:tblPr>
              <a:tblGrid>
                <a:gridCol w="3676218">
                  <a:extLst>
                    <a:ext uri="{9D8B030D-6E8A-4147-A177-3AD203B41FA5}">
                      <a16:colId xmlns:a16="http://schemas.microsoft.com/office/drawing/2014/main" val="4147236480"/>
                    </a:ext>
                  </a:extLst>
                </a:gridCol>
                <a:gridCol w="1725153">
                  <a:extLst>
                    <a:ext uri="{9D8B030D-6E8A-4147-A177-3AD203B41FA5}">
                      <a16:colId xmlns:a16="http://schemas.microsoft.com/office/drawing/2014/main" val="205745581"/>
                    </a:ext>
                  </a:extLst>
                </a:gridCol>
                <a:gridCol w="1766227">
                  <a:extLst>
                    <a:ext uri="{9D8B030D-6E8A-4147-A177-3AD203B41FA5}">
                      <a16:colId xmlns:a16="http://schemas.microsoft.com/office/drawing/2014/main" val="120104524"/>
                    </a:ext>
                  </a:extLst>
                </a:gridCol>
                <a:gridCol w="985801">
                  <a:extLst>
                    <a:ext uri="{9D8B030D-6E8A-4147-A177-3AD203B41FA5}">
                      <a16:colId xmlns:a16="http://schemas.microsoft.com/office/drawing/2014/main" val="3388599460"/>
                    </a:ext>
                  </a:extLst>
                </a:gridCol>
              </a:tblGrid>
              <a:tr h="741918">
                <a:tc>
                  <a:txBody>
                    <a:bodyPr/>
                    <a:lstStyle/>
                    <a:p>
                      <a:pPr algn="l"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Mean</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Standard</a:t>
                      </a:r>
                      <a:br>
                        <a:rPr lang="en-US" sz="1600" u="none" strike="noStrike" dirty="0">
                          <a:effectLst/>
                        </a:rPr>
                      </a:br>
                      <a:r>
                        <a:rPr lang="en-US" sz="1600" u="none" strike="noStrike" dirty="0">
                          <a:effectLst/>
                        </a:rPr>
                        <a:t>Deviation</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Range</a:t>
                      </a:r>
                      <a:endParaRPr lang="en-US" sz="16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34829304"/>
                  </a:ext>
                </a:extLst>
              </a:tr>
              <a:tr h="333575">
                <a:tc>
                  <a:txBody>
                    <a:bodyPr/>
                    <a:lstStyle/>
                    <a:p>
                      <a:pPr algn="l" fontAlgn="b"/>
                      <a:r>
                        <a:rPr lang="en-US" sz="1600" u="none" strike="noStrike">
                          <a:effectLst/>
                        </a:rPr>
                        <a:t>Out Degree (# friends named)</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2.58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1.97</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0 - 7</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79517454"/>
                  </a:ext>
                </a:extLst>
              </a:tr>
              <a:tr h="333575">
                <a:tc>
                  <a:txBody>
                    <a:bodyPr/>
                    <a:lstStyle/>
                    <a:p>
                      <a:pPr algn="l" fontAlgn="b"/>
                      <a:r>
                        <a:rPr lang="en-US" sz="1600" u="none" strike="noStrike">
                          <a:effectLst/>
                        </a:rPr>
                        <a:t>In Degree (# times named as friend)</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2.58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2.21</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0 - 16</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11999637"/>
                  </a:ext>
                </a:extLst>
              </a:tr>
              <a:tr h="618840">
                <a:tc>
                  <a:txBody>
                    <a:bodyPr/>
                    <a:lstStyle/>
                    <a:p>
                      <a:pPr algn="l" fontAlgn="b"/>
                      <a:r>
                        <a:rPr lang="en-US" sz="1600" u="none" strike="noStrike" dirty="0">
                          <a:effectLst/>
                        </a:rPr>
                        <a:t># Friends Self-report E-cigarette Use</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0.34</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0.69</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0 - 5</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94932774"/>
                  </a:ext>
                </a:extLst>
              </a:tr>
              <a:tr h="333575">
                <a:tc>
                  <a:txBody>
                    <a:bodyPr/>
                    <a:lstStyle/>
                    <a:p>
                      <a:pPr algn="l" fontAlgn="b"/>
                      <a:r>
                        <a:rPr lang="en-US" sz="1600" u="none" strike="noStrike" dirty="0">
                          <a:effectLst/>
                        </a:rPr>
                        <a:t># Friends Self-report Marijuana Use</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0.23</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0.58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0 - 6</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29118141"/>
                  </a:ext>
                </a:extLst>
              </a:tr>
              <a:tr h="333575">
                <a:tc>
                  <a:txBody>
                    <a:bodyPr/>
                    <a:lstStyle/>
                    <a:p>
                      <a:pPr algn="l" fontAlgn="b"/>
                      <a:r>
                        <a:rPr lang="en-US" sz="1600" u="none" strike="noStrike" dirty="0">
                          <a:effectLst/>
                        </a:rPr>
                        <a:t># Friends Self-report Alcohol Use</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0.58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0.93</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0 - 6</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96359101"/>
                  </a:ext>
                </a:extLst>
              </a:tr>
              <a:tr h="333575">
                <a:tc>
                  <a:txBody>
                    <a:bodyPr/>
                    <a:lstStyle/>
                    <a:p>
                      <a:pPr algn="l" fontAlgn="b"/>
                      <a:r>
                        <a:rPr lang="en-US" sz="1600" u="none" strike="noStrike" dirty="0">
                          <a:effectLst/>
                        </a:rPr>
                        <a:t># Friends Self-report Any</a:t>
                      </a:r>
                      <a:endParaRPr lang="en-US" sz="16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0.38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1.95</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0 - 17</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1119364"/>
                  </a:ext>
                </a:extLst>
              </a:tr>
              <a:tr h="618840">
                <a:tc>
                  <a:txBody>
                    <a:bodyPr/>
                    <a:lstStyle/>
                    <a:p>
                      <a:pPr algn="l" fontAlgn="b"/>
                      <a:r>
                        <a:rPr lang="en-US" sz="1600" u="none" strike="noStrike">
                          <a:effectLst/>
                        </a:rPr>
                        <a:t># Friends Perceived Use E-cigarettes</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0.48</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1.07</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0 - 5</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01419256"/>
                  </a:ext>
                </a:extLst>
              </a:tr>
              <a:tr h="333575">
                <a:tc>
                  <a:txBody>
                    <a:bodyPr/>
                    <a:lstStyle/>
                    <a:p>
                      <a:pPr algn="l" fontAlgn="b"/>
                      <a:r>
                        <a:rPr lang="en-US" sz="1600" u="none" strike="noStrike">
                          <a:effectLst/>
                        </a:rPr>
                        <a:t># Friends Perceived Use Marijuana</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0.47</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1.11</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0 - 5</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16829991"/>
                  </a:ext>
                </a:extLst>
              </a:tr>
              <a:tr h="333575">
                <a:tc>
                  <a:txBody>
                    <a:bodyPr/>
                    <a:lstStyle/>
                    <a:p>
                      <a:pPr algn="l" fontAlgn="b"/>
                      <a:r>
                        <a:rPr lang="en-US" sz="1600" u="none" strike="noStrike">
                          <a:effectLst/>
                        </a:rPr>
                        <a:t># Friends Perceived Use Alcohol</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0.72</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1.35</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0 - 5</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68066129"/>
                  </a:ext>
                </a:extLst>
              </a:tr>
              <a:tr h="333575">
                <a:tc>
                  <a:txBody>
                    <a:bodyPr/>
                    <a:lstStyle/>
                    <a:p>
                      <a:pPr algn="l" fontAlgn="b"/>
                      <a:r>
                        <a:rPr lang="en-US" sz="1600" u="none" strike="noStrike">
                          <a:effectLst/>
                        </a:rPr>
                        <a:t># Friends Perceived Use Any</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0.57</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a:effectLst/>
                        </a:rPr>
                        <a:t>1.04</a:t>
                      </a:r>
                      <a:endParaRPr lang="en-US" sz="16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600" u="none" strike="noStrike" dirty="0">
                          <a:effectLst/>
                        </a:rPr>
                        <a:t>0 - 5</a:t>
                      </a:r>
                      <a:endParaRPr lang="en-US" sz="16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83570788"/>
                  </a:ext>
                </a:extLst>
              </a:tr>
            </a:tbl>
          </a:graphicData>
        </a:graphic>
      </p:graphicFrame>
      <p:sp>
        <p:nvSpPr>
          <p:cNvPr id="5" name="TextBox 4">
            <a:extLst>
              <a:ext uri="{FF2B5EF4-FFF2-40B4-BE49-F238E27FC236}">
                <a16:creationId xmlns:a16="http://schemas.microsoft.com/office/drawing/2014/main" id="{10D7BE72-35EA-77FE-072A-104230910B46}"/>
              </a:ext>
            </a:extLst>
          </p:cNvPr>
          <p:cNvSpPr txBox="1"/>
          <p:nvPr/>
        </p:nvSpPr>
        <p:spPr>
          <a:xfrm>
            <a:off x="1295400" y="1417638"/>
            <a:ext cx="5955476" cy="369332"/>
          </a:xfrm>
          <a:prstGeom prst="rect">
            <a:avLst/>
          </a:prstGeom>
          <a:noFill/>
        </p:spPr>
        <p:txBody>
          <a:bodyPr wrap="none" rtlCol="0">
            <a:spAutoFit/>
          </a:bodyPr>
          <a:lstStyle/>
          <a:p>
            <a:r>
              <a:rPr lang="en-US" dirty="0"/>
              <a:t>Perceived Use Somewhat Higher than Friend Self-report</a:t>
            </a:r>
          </a:p>
        </p:txBody>
      </p:sp>
      <p:sp>
        <p:nvSpPr>
          <p:cNvPr id="3" name="Date Placeholder 2">
            <a:extLst>
              <a:ext uri="{FF2B5EF4-FFF2-40B4-BE49-F238E27FC236}">
                <a16:creationId xmlns:a16="http://schemas.microsoft.com/office/drawing/2014/main" id="{6E454C9D-9D06-1443-0355-7EA2D3EEC952}"/>
              </a:ext>
            </a:extLst>
          </p:cNvPr>
          <p:cNvSpPr>
            <a:spLocks noGrp="1"/>
          </p:cNvSpPr>
          <p:nvPr>
            <p:ph type="dt" sz="half" idx="10"/>
          </p:nvPr>
        </p:nvSpPr>
        <p:spPr/>
        <p:txBody>
          <a:bodyPr/>
          <a:lstStyle/>
          <a:p>
            <a:pPr>
              <a:defRPr/>
            </a:pPr>
            <a:endParaRPr lang="en-US" dirty="0"/>
          </a:p>
        </p:txBody>
      </p:sp>
      <p:sp>
        <p:nvSpPr>
          <p:cNvPr id="7" name="Footer Placeholder 6">
            <a:extLst>
              <a:ext uri="{FF2B5EF4-FFF2-40B4-BE49-F238E27FC236}">
                <a16:creationId xmlns:a16="http://schemas.microsoft.com/office/drawing/2014/main" id="{DB452C1D-FFE1-51F6-BDA0-5BD4C6146A2B}"/>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302338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3F08-F8C2-43B3-1937-07A1481B3756}"/>
              </a:ext>
            </a:extLst>
          </p:cNvPr>
          <p:cNvSpPr>
            <a:spLocks noGrp="1"/>
          </p:cNvSpPr>
          <p:nvPr>
            <p:ph type="title"/>
          </p:nvPr>
        </p:nvSpPr>
        <p:spPr>
          <a:xfrm>
            <a:off x="674688" y="571500"/>
            <a:ext cx="7715250" cy="1143000"/>
          </a:xfrm>
        </p:spPr>
        <p:txBody>
          <a:bodyPr>
            <a:normAutofit fontScale="90000"/>
          </a:bodyPr>
          <a:lstStyle/>
          <a:p>
            <a:pPr>
              <a:defRPr/>
            </a:pPr>
            <a:r>
              <a:rPr lang="en-US" dirty="0"/>
              <a:t>Exposure is Associated with Adoption</a:t>
            </a:r>
          </a:p>
        </p:txBody>
      </p:sp>
      <p:sp>
        <p:nvSpPr>
          <p:cNvPr id="4" name="Oval 3">
            <a:extLst>
              <a:ext uri="{FF2B5EF4-FFF2-40B4-BE49-F238E27FC236}">
                <a16:creationId xmlns:a16="http://schemas.microsoft.com/office/drawing/2014/main" id="{B6B2E270-E85E-F3F1-E8B5-800FF48108A5}"/>
              </a:ext>
            </a:extLst>
          </p:cNvPr>
          <p:cNvSpPr/>
          <p:nvPr/>
        </p:nvSpPr>
        <p:spPr>
          <a:xfrm>
            <a:off x="3141662" y="2222818"/>
            <a:ext cx="714375" cy="685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3375" dirty="0"/>
              <a:t>A</a:t>
            </a:r>
          </a:p>
        </p:txBody>
      </p:sp>
      <p:sp>
        <p:nvSpPr>
          <p:cNvPr id="6" name="Oval 5">
            <a:extLst>
              <a:ext uri="{FF2B5EF4-FFF2-40B4-BE49-F238E27FC236}">
                <a16:creationId xmlns:a16="http://schemas.microsoft.com/office/drawing/2014/main" id="{B06F6D7B-2E2A-5CF2-3555-452DB79E5C39}"/>
              </a:ext>
            </a:extLst>
          </p:cNvPr>
          <p:cNvSpPr/>
          <p:nvPr/>
        </p:nvSpPr>
        <p:spPr>
          <a:xfrm>
            <a:off x="6116637" y="3505518"/>
            <a:ext cx="714375" cy="685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3375" dirty="0">
                <a:solidFill>
                  <a:schemeClr val="bg1"/>
                </a:solidFill>
              </a:rPr>
              <a:t>C</a:t>
            </a:r>
          </a:p>
        </p:txBody>
      </p:sp>
      <p:sp>
        <p:nvSpPr>
          <p:cNvPr id="7" name="Oval 6">
            <a:extLst>
              <a:ext uri="{FF2B5EF4-FFF2-40B4-BE49-F238E27FC236}">
                <a16:creationId xmlns:a16="http://schemas.microsoft.com/office/drawing/2014/main" id="{EC93E60A-BB94-DFD5-EAEE-9FB722417F19}"/>
              </a:ext>
            </a:extLst>
          </p:cNvPr>
          <p:cNvSpPr/>
          <p:nvPr/>
        </p:nvSpPr>
        <p:spPr>
          <a:xfrm>
            <a:off x="1973262" y="3581718"/>
            <a:ext cx="714375" cy="685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Oval 7">
            <a:extLst>
              <a:ext uri="{FF2B5EF4-FFF2-40B4-BE49-F238E27FC236}">
                <a16:creationId xmlns:a16="http://schemas.microsoft.com/office/drawing/2014/main" id="{2DB02AB2-1384-AD74-5889-E9EE6D0794A9}"/>
              </a:ext>
            </a:extLst>
          </p:cNvPr>
          <p:cNvSpPr/>
          <p:nvPr/>
        </p:nvSpPr>
        <p:spPr>
          <a:xfrm>
            <a:off x="3284537" y="4900930"/>
            <a:ext cx="714375"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9" name="Oval 8">
            <a:extLst>
              <a:ext uri="{FF2B5EF4-FFF2-40B4-BE49-F238E27FC236}">
                <a16:creationId xmlns:a16="http://schemas.microsoft.com/office/drawing/2014/main" id="{8DF26FDB-2528-B271-30C9-5CFA486F8DC8}"/>
              </a:ext>
            </a:extLst>
          </p:cNvPr>
          <p:cNvSpPr/>
          <p:nvPr/>
        </p:nvSpPr>
        <p:spPr>
          <a:xfrm>
            <a:off x="4960937" y="4907280"/>
            <a:ext cx="714375"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Oval 9">
            <a:extLst>
              <a:ext uri="{FF2B5EF4-FFF2-40B4-BE49-F238E27FC236}">
                <a16:creationId xmlns:a16="http://schemas.microsoft.com/office/drawing/2014/main" id="{897A3D6E-01F3-6D9B-EB36-A2B7AA738C2E}"/>
              </a:ext>
            </a:extLst>
          </p:cNvPr>
          <p:cNvSpPr/>
          <p:nvPr/>
        </p:nvSpPr>
        <p:spPr>
          <a:xfrm>
            <a:off x="4038600" y="3491230"/>
            <a:ext cx="714375"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2713" name="TextBox 10">
            <a:extLst>
              <a:ext uri="{FF2B5EF4-FFF2-40B4-BE49-F238E27FC236}">
                <a16:creationId xmlns:a16="http://schemas.microsoft.com/office/drawing/2014/main" id="{C5545274-C42E-5CA6-D66F-6F990B821A6D}"/>
              </a:ext>
            </a:extLst>
          </p:cNvPr>
          <p:cNvSpPr txBox="1">
            <a:spLocks noChangeArrowheads="1"/>
          </p:cNvSpPr>
          <p:nvPr/>
        </p:nvSpPr>
        <p:spPr bwMode="auto">
          <a:xfrm>
            <a:off x="4095750" y="3581718"/>
            <a:ext cx="696912" cy="438150"/>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2250"/>
              <a:t>Ego</a:t>
            </a:r>
          </a:p>
        </p:txBody>
      </p:sp>
      <p:cxnSp>
        <p:nvCxnSpPr>
          <p:cNvPr id="13" name="Straight Arrow Connector 12">
            <a:extLst>
              <a:ext uri="{FF2B5EF4-FFF2-40B4-BE49-F238E27FC236}">
                <a16:creationId xmlns:a16="http://schemas.microsoft.com/office/drawing/2014/main" id="{F7FAB498-8FA6-36E1-4467-9B290643E789}"/>
              </a:ext>
            </a:extLst>
          </p:cNvPr>
          <p:cNvCxnSpPr/>
          <p:nvPr/>
        </p:nvCxnSpPr>
        <p:spPr>
          <a:xfrm flipV="1">
            <a:off x="4648200" y="2908618"/>
            <a:ext cx="396875" cy="5826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FD12B2C-09F2-2C7C-8F29-980B6746E89C}"/>
              </a:ext>
            </a:extLst>
          </p:cNvPr>
          <p:cNvSpPr/>
          <p:nvPr/>
        </p:nvSpPr>
        <p:spPr>
          <a:xfrm>
            <a:off x="4960937" y="2195830"/>
            <a:ext cx="714375" cy="685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3375" dirty="0"/>
              <a:t>B</a:t>
            </a:r>
          </a:p>
        </p:txBody>
      </p:sp>
      <p:sp>
        <p:nvSpPr>
          <p:cNvPr id="72716" name="Rectangle 16">
            <a:extLst>
              <a:ext uri="{FF2B5EF4-FFF2-40B4-BE49-F238E27FC236}">
                <a16:creationId xmlns:a16="http://schemas.microsoft.com/office/drawing/2014/main" id="{4CFE6BF3-A9EC-0528-47AE-E9839C08037A}"/>
              </a:ext>
            </a:extLst>
          </p:cNvPr>
          <p:cNvSpPr>
            <a:spLocks noChangeArrowheads="1"/>
          </p:cNvSpPr>
          <p:nvPr/>
        </p:nvSpPr>
        <p:spPr bwMode="auto">
          <a:xfrm>
            <a:off x="5068887" y="4907280"/>
            <a:ext cx="496888" cy="611188"/>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3375"/>
              <a:t>D</a:t>
            </a:r>
          </a:p>
        </p:txBody>
      </p:sp>
      <p:sp>
        <p:nvSpPr>
          <p:cNvPr id="72717" name="Rectangle 17">
            <a:extLst>
              <a:ext uri="{FF2B5EF4-FFF2-40B4-BE49-F238E27FC236}">
                <a16:creationId xmlns:a16="http://schemas.microsoft.com/office/drawing/2014/main" id="{D4D9CD95-F06F-CF18-72F8-23688C25A972}"/>
              </a:ext>
            </a:extLst>
          </p:cNvPr>
          <p:cNvSpPr>
            <a:spLocks noChangeArrowheads="1"/>
          </p:cNvSpPr>
          <p:nvPr/>
        </p:nvSpPr>
        <p:spPr bwMode="auto">
          <a:xfrm>
            <a:off x="3379787" y="4899343"/>
            <a:ext cx="473075" cy="612775"/>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3375"/>
              <a:t>E</a:t>
            </a:r>
          </a:p>
        </p:txBody>
      </p:sp>
      <p:sp>
        <p:nvSpPr>
          <p:cNvPr id="72718" name="Rectangle 18">
            <a:extLst>
              <a:ext uri="{FF2B5EF4-FFF2-40B4-BE49-F238E27FC236}">
                <a16:creationId xmlns:a16="http://schemas.microsoft.com/office/drawing/2014/main" id="{011E598F-58D4-71A4-12F9-769B2D5D8D8D}"/>
              </a:ext>
            </a:extLst>
          </p:cNvPr>
          <p:cNvSpPr>
            <a:spLocks noChangeArrowheads="1"/>
          </p:cNvSpPr>
          <p:nvPr/>
        </p:nvSpPr>
        <p:spPr bwMode="auto">
          <a:xfrm>
            <a:off x="2106612" y="3581718"/>
            <a:ext cx="447675" cy="611187"/>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3375">
                <a:solidFill>
                  <a:schemeClr val="bg1"/>
                </a:solidFill>
              </a:rPr>
              <a:t>F</a:t>
            </a:r>
          </a:p>
        </p:txBody>
      </p:sp>
      <p:cxnSp>
        <p:nvCxnSpPr>
          <p:cNvPr id="20" name="Straight Arrow Connector 19">
            <a:extLst>
              <a:ext uri="{FF2B5EF4-FFF2-40B4-BE49-F238E27FC236}">
                <a16:creationId xmlns:a16="http://schemas.microsoft.com/office/drawing/2014/main" id="{66544B0F-6C63-D9CC-3E82-F45B908AFF72}"/>
              </a:ext>
            </a:extLst>
          </p:cNvPr>
          <p:cNvCxnSpPr/>
          <p:nvPr/>
        </p:nvCxnSpPr>
        <p:spPr>
          <a:xfrm flipH="1" flipV="1">
            <a:off x="3641725" y="2908618"/>
            <a:ext cx="454025" cy="5826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1C74524-C3D4-22C2-3FC7-D7BF8B9CB8D7}"/>
              </a:ext>
            </a:extLst>
          </p:cNvPr>
          <p:cNvCxnSpPr/>
          <p:nvPr/>
        </p:nvCxnSpPr>
        <p:spPr>
          <a:xfrm flipH="1">
            <a:off x="2830512" y="3834130"/>
            <a:ext cx="104616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4EB5922-F955-4FBE-29F7-61E0448FA4C6}"/>
              </a:ext>
            </a:extLst>
          </p:cNvPr>
          <p:cNvCxnSpPr/>
          <p:nvPr/>
        </p:nvCxnSpPr>
        <p:spPr>
          <a:xfrm flipH="1">
            <a:off x="3876675" y="4253230"/>
            <a:ext cx="377825" cy="64611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CE9F11F-23DD-2615-03D9-541E27D53E95}"/>
              </a:ext>
            </a:extLst>
          </p:cNvPr>
          <p:cNvCxnSpPr/>
          <p:nvPr/>
        </p:nvCxnSpPr>
        <p:spPr>
          <a:xfrm>
            <a:off x="4648200" y="4215130"/>
            <a:ext cx="396875" cy="68421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FFDCA2C-2260-A142-FE4D-D276DD1C0211}"/>
              </a:ext>
            </a:extLst>
          </p:cNvPr>
          <p:cNvCxnSpPr/>
          <p:nvPr/>
        </p:nvCxnSpPr>
        <p:spPr>
          <a:xfrm flipV="1">
            <a:off x="4846637" y="3848418"/>
            <a:ext cx="1055688" cy="1905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2725" name="Slide Number Placeholder 2">
            <a:extLst>
              <a:ext uri="{FF2B5EF4-FFF2-40B4-BE49-F238E27FC236}">
                <a16:creationId xmlns:a16="http://schemas.microsoft.com/office/drawing/2014/main" id="{ECD43114-939C-5BB2-8316-89C74BB16F6F}"/>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fld id="{A9960C04-5A95-4B40-A2E7-AD80A2D3F14C}" type="slidenum">
              <a:rPr lang="en-US" altLang="en-US" smtClean="0"/>
              <a:pPr>
                <a:spcBef>
                  <a:spcPct val="0"/>
                </a:spcBef>
                <a:buFontTx/>
                <a:buNone/>
                <a:defRPr/>
              </a:pPr>
              <a:t>11</a:t>
            </a:fld>
            <a:endParaRPr lang="en-US" altLang="en-US" sz="1313"/>
          </a:p>
        </p:txBody>
      </p:sp>
      <p:sp>
        <p:nvSpPr>
          <p:cNvPr id="3" name="Date Placeholder 2">
            <a:extLst>
              <a:ext uri="{FF2B5EF4-FFF2-40B4-BE49-F238E27FC236}">
                <a16:creationId xmlns:a16="http://schemas.microsoft.com/office/drawing/2014/main" id="{43B73D88-BA1A-8865-F3A3-63EFAA801899}"/>
              </a:ext>
            </a:extLst>
          </p:cNvPr>
          <p:cNvSpPr>
            <a:spLocks noGrp="1"/>
          </p:cNvSpPr>
          <p:nvPr>
            <p:ph type="dt" sz="half" idx="10"/>
          </p:nvPr>
        </p:nvSpPr>
        <p:spPr/>
        <p:txBody>
          <a:bodyPr/>
          <a:lstStyle/>
          <a:p>
            <a:pPr>
              <a:defRPr/>
            </a:pPr>
            <a:endParaRPr lang="en-US" dirty="0"/>
          </a:p>
        </p:txBody>
      </p:sp>
      <p:sp>
        <p:nvSpPr>
          <p:cNvPr id="11" name="Footer Placeholder 10">
            <a:extLst>
              <a:ext uri="{FF2B5EF4-FFF2-40B4-BE49-F238E27FC236}">
                <a16:creationId xmlns:a16="http://schemas.microsoft.com/office/drawing/2014/main" id="{D2C4386F-8D07-7949-3016-4E155093860C}"/>
              </a:ext>
            </a:extLst>
          </p:cNvPr>
          <p:cNvSpPr>
            <a:spLocks noGrp="1"/>
          </p:cNvSpPr>
          <p:nvPr>
            <p:ph type="ftr" sz="quarter" idx="11"/>
          </p:nvPr>
        </p:nvSpPr>
        <p:spPr/>
        <p:txBody>
          <a:bodyPr/>
          <a:lstStyle/>
          <a:p>
            <a:pP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151E5-7073-A3DD-DAB8-0C6A9A8A30C5}"/>
              </a:ext>
            </a:extLst>
          </p:cNvPr>
          <p:cNvSpPr>
            <a:spLocks noGrp="1"/>
          </p:cNvSpPr>
          <p:nvPr>
            <p:ph type="title"/>
          </p:nvPr>
        </p:nvSpPr>
        <p:spPr/>
        <p:txBody>
          <a:bodyPr/>
          <a:lstStyle/>
          <a:p>
            <a:r>
              <a:rPr lang="en-US" dirty="0"/>
              <a:t>Networks</a:t>
            </a:r>
          </a:p>
        </p:txBody>
      </p:sp>
      <p:graphicFrame>
        <p:nvGraphicFramePr>
          <p:cNvPr id="4" name="Content Placeholder 3">
            <a:extLst>
              <a:ext uri="{FF2B5EF4-FFF2-40B4-BE49-F238E27FC236}">
                <a16:creationId xmlns:a16="http://schemas.microsoft.com/office/drawing/2014/main" id="{CDAF788C-6AAD-7D6E-6C12-30380DBEA240}"/>
              </a:ext>
            </a:extLst>
          </p:cNvPr>
          <p:cNvGraphicFramePr>
            <a:graphicFrameLocks noGrp="1"/>
          </p:cNvGraphicFramePr>
          <p:nvPr>
            <p:ph idx="1"/>
            <p:extLst>
              <p:ext uri="{D42A27DB-BD31-4B8C-83A1-F6EECF244321}">
                <p14:modId xmlns:p14="http://schemas.microsoft.com/office/powerpoint/2010/main" val="328517530"/>
              </p:ext>
            </p:extLst>
          </p:nvPr>
        </p:nvGraphicFramePr>
        <p:xfrm>
          <a:off x="152400" y="1676400"/>
          <a:ext cx="8915398" cy="4950884"/>
        </p:xfrm>
        <a:graphic>
          <a:graphicData uri="http://schemas.openxmlformats.org/drawingml/2006/table">
            <a:tbl>
              <a:tblPr>
                <a:tableStyleId>{5C22544A-7EE6-4342-B048-85BDC9FD1C3A}</a:tableStyleId>
              </a:tblPr>
              <a:tblGrid>
                <a:gridCol w="3110022">
                  <a:extLst>
                    <a:ext uri="{9D8B030D-6E8A-4147-A177-3AD203B41FA5}">
                      <a16:colId xmlns:a16="http://schemas.microsoft.com/office/drawing/2014/main" val="3013033683"/>
                    </a:ext>
                  </a:extLst>
                </a:gridCol>
                <a:gridCol w="1451344">
                  <a:extLst>
                    <a:ext uri="{9D8B030D-6E8A-4147-A177-3AD203B41FA5}">
                      <a16:colId xmlns:a16="http://schemas.microsoft.com/office/drawing/2014/main" val="3379673212"/>
                    </a:ext>
                  </a:extLst>
                </a:gridCol>
                <a:gridCol w="1451344">
                  <a:extLst>
                    <a:ext uri="{9D8B030D-6E8A-4147-A177-3AD203B41FA5}">
                      <a16:colId xmlns:a16="http://schemas.microsoft.com/office/drawing/2014/main" val="1255755671"/>
                    </a:ext>
                  </a:extLst>
                </a:gridCol>
                <a:gridCol w="1451344">
                  <a:extLst>
                    <a:ext uri="{9D8B030D-6E8A-4147-A177-3AD203B41FA5}">
                      <a16:colId xmlns:a16="http://schemas.microsoft.com/office/drawing/2014/main" val="1689693866"/>
                    </a:ext>
                  </a:extLst>
                </a:gridCol>
                <a:gridCol w="1451344">
                  <a:extLst>
                    <a:ext uri="{9D8B030D-6E8A-4147-A177-3AD203B41FA5}">
                      <a16:colId xmlns:a16="http://schemas.microsoft.com/office/drawing/2014/main" val="2575936722"/>
                    </a:ext>
                  </a:extLst>
                </a:gridCol>
              </a:tblGrid>
              <a:tr h="1083732">
                <a:tc>
                  <a:txBody>
                    <a:bodyPr/>
                    <a:lstStyle/>
                    <a:p>
                      <a:pPr algn="l" fontAlgn="b"/>
                      <a:endParaRPr lang="en-US" sz="2000" b="0" i="0" u="none" strike="noStrike" dirty="0">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 E-cigarette</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Marijuana</a:t>
                      </a:r>
                      <a:endParaRPr lang="en-US" sz="2000" b="0" i="0" u="none" strike="noStrike" dirty="0">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Alcohol</a:t>
                      </a:r>
                      <a:endParaRPr lang="en-US" sz="2000" b="0" i="0" u="none" strike="noStrike" dirty="0">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Any</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2370865101"/>
                  </a:ext>
                </a:extLst>
              </a:tr>
              <a:tr h="541867">
                <a:tc>
                  <a:txBody>
                    <a:bodyPr/>
                    <a:lstStyle/>
                    <a:p>
                      <a:pPr algn="l" fontAlgn="b"/>
                      <a:r>
                        <a:rPr lang="en-US" sz="2000" u="none" strike="noStrike">
                          <a:effectLst/>
                          <a:latin typeface="+mn-lt"/>
                        </a:rPr>
                        <a:t>Out-degree</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0.73*</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0.79*</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0.81*</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0.87*</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3305235063"/>
                  </a:ext>
                </a:extLst>
              </a:tr>
              <a:tr h="541867">
                <a:tc>
                  <a:txBody>
                    <a:bodyPr/>
                    <a:lstStyle/>
                    <a:p>
                      <a:pPr algn="l" fontAlgn="b"/>
                      <a:r>
                        <a:rPr lang="en-US" sz="2000" u="none" strike="noStrike" dirty="0">
                          <a:effectLst/>
                          <a:latin typeface="+mn-lt"/>
                        </a:rPr>
                        <a:t>In-degree</a:t>
                      </a:r>
                      <a:endParaRPr lang="en-US" sz="2000" b="0" i="0" u="none" strike="noStrike" dirty="0">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0.97</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0.99</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0.93</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0.97</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1374461530"/>
                  </a:ext>
                </a:extLst>
              </a:tr>
              <a:tr h="541867">
                <a:tc>
                  <a:txBody>
                    <a:bodyPr/>
                    <a:lstStyle/>
                    <a:p>
                      <a:pPr algn="l" fontAlgn="b"/>
                      <a:r>
                        <a:rPr lang="en-US" sz="2000" u="none" strike="noStrike">
                          <a:effectLst/>
                          <a:latin typeface="+mn-lt"/>
                        </a:rPr>
                        <a:t># Friends Self-report Use</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2.08*</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2.38*</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1.83*</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1.44*</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2714556123"/>
                  </a:ext>
                </a:extLst>
              </a:tr>
              <a:tr h="541867">
                <a:tc>
                  <a:txBody>
                    <a:bodyPr/>
                    <a:lstStyle/>
                    <a:p>
                      <a:pPr algn="l" fontAlgn="b"/>
                      <a:r>
                        <a:rPr lang="en-US" sz="2000" u="none" strike="noStrike" dirty="0">
                          <a:effectLst/>
                          <a:latin typeface="+mn-lt"/>
                        </a:rPr>
                        <a:t># Friends Perceived Use</a:t>
                      </a:r>
                      <a:endParaRPr lang="en-US" sz="2000" b="0" i="0" u="none" strike="noStrike" dirty="0">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1.67*</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1.94*</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1.51*</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2.14*</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665439499"/>
                  </a:ext>
                </a:extLst>
              </a:tr>
              <a:tr h="541867">
                <a:tc>
                  <a:txBody>
                    <a:bodyPr/>
                    <a:lstStyle/>
                    <a:p>
                      <a:pPr algn="l" fontAlgn="b"/>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 </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 </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 </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 </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3793946085"/>
                  </a:ext>
                </a:extLst>
              </a:tr>
              <a:tr h="541867">
                <a:tc>
                  <a:txBody>
                    <a:bodyPr/>
                    <a:lstStyle/>
                    <a:p>
                      <a:pPr algn="l" fontAlgn="b"/>
                      <a:r>
                        <a:rPr lang="en-US" sz="2000" u="none" strike="noStrike">
                          <a:effectLst/>
                          <a:latin typeface="+mn-lt"/>
                        </a:rPr>
                        <a:t># Asian Friends Named</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0.69</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0.53</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0.70</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0.68</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867966968"/>
                  </a:ext>
                </a:extLst>
              </a:tr>
              <a:tr h="541867">
                <a:tc>
                  <a:txBody>
                    <a:bodyPr/>
                    <a:lstStyle/>
                    <a:p>
                      <a:pPr algn="l" fontAlgn="b"/>
                      <a:r>
                        <a:rPr lang="en-US" sz="2000" u="none" strike="noStrike">
                          <a:effectLst/>
                          <a:latin typeface="+mn-lt"/>
                        </a:rPr>
                        <a:t># Named as Friend by Asians</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0.38*</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0.29*</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a:effectLst/>
                          <a:latin typeface="+mn-lt"/>
                        </a:rPr>
                        <a:t>0.55*</a:t>
                      </a:r>
                      <a:endParaRPr lang="en-US" sz="2000" b="0" i="0" u="none" strike="noStrike">
                        <a:solidFill>
                          <a:srgbClr val="000000"/>
                        </a:solidFill>
                        <a:effectLst/>
                        <a:latin typeface="+mn-lt"/>
                      </a:endParaRPr>
                    </a:p>
                  </a:txBody>
                  <a:tcPr marL="6350" marR="6350" marT="6350" marB="0" anchor="b"/>
                </a:tc>
                <a:tc>
                  <a:txBody>
                    <a:bodyPr/>
                    <a:lstStyle/>
                    <a:p>
                      <a:pPr algn="ctr" fontAlgn="b"/>
                      <a:r>
                        <a:rPr lang="en-US" sz="2000" u="none" strike="noStrike" dirty="0">
                          <a:effectLst/>
                          <a:latin typeface="+mn-lt"/>
                        </a:rPr>
                        <a:t>0.42*</a:t>
                      </a:r>
                      <a:endParaRPr lang="en-US" sz="2000" b="0" i="0" u="none" strike="noStrike" dirty="0">
                        <a:solidFill>
                          <a:srgbClr val="000000"/>
                        </a:solidFill>
                        <a:effectLst/>
                        <a:latin typeface="+mn-lt"/>
                      </a:endParaRPr>
                    </a:p>
                  </a:txBody>
                  <a:tcPr marL="6350" marR="6350" marT="6350" marB="0" anchor="b"/>
                </a:tc>
                <a:extLst>
                  <a:ext uri="{0D108BD9-81ED-4DB2-BD59-A6C34878D82A}">
                    <a16:rowId xmlns:a16="http://schemas.microsoft.com/office/drawing/2014/main" val="1041032334"/>
                  </a:ext>
                </a:extLst>
              </a:tr>
            </a:tbl>
          </a:graphicData>
        </a:graphic>
      </p:graphicFrame>
      <p:sp>
        <p:nvSpPr>
          <p:cNvPr id="5" name="Oval 4">
            <a:extLst>
              <a:ext uri="{FF2B5EF4-FFF2-40B4-BE49-F238E27FC236}">
                <a16:creationId xmlns:a16="http://schemas.microsoft.com/office/drawing/2014/main" id="{F8461849-3204-CC80-5BF6-93269C87D77C}"/>
              </a:ext>
            </a:extLst>
          </p:cNvPr>
          <p:cNvSpPr/>
          <p:nvPr/>
        </p:nvSpPr>
        <p:spPr bwMode="auto">
          <a:xfrm>
            <a:off x="2819401" y="2743200"/>
            <a:ext cx="6019800" cy="8382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6" name="Oval 5">
            <a:extLst>
              <a:ext uri="{FF2B5EF4-FFF2-40B4-BE49-F238E27FC236}">
                <a16:creationId xmlns:a16="http://schemas.microsoft.com/office/drawing/2014/main" id="{A0FFC27E-F4DE-A8C7-F4A4-7B7E40653456}"/>
              </a:ext>
            </a:extLst>
          </p:cNvPr>
          <p:cNvSpPr/>
          <p:nvPr/>
        </p:nvSpPr>
        <p:spPr bwMode="auto">
          <a:xfrm>
            <a:off x="2839721" y="3732742"/>
            <a:ext cx="6019800" cy="8382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7" name="Oval 6">
            <a:extLst>
              <a:ext uri="{FF2B5EF4-FFF2-40B4-BE49-F238E27FC236}">
                <a16:creationId xmlns:a16="http://schemas.microsoft.com/office/drawing/2014/main" id="{BDB5A5D5-BEC8-F821-280F-9C698BD4D047}"/>
              </a:ext>
            </a:extLst>
          </p:cNvPr>
          <p:cNvSpPr/>
          <p:nvPr/>
        </p:nvSpPr>
        <p:spPr bwMode="auto">
          <a:xfrm>
            <a:off x="2895600" y="4410604"/>
            <a:ext cx="6019800" cy="8382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8" name="Oval 7">
            <a:extLst>
              <a:ext uri="{FF2B5EF4-FFF2-40B4-BE49-F238E27FC236}">
                <a16:creationId xmlns:a16="http://schemas.microsoft.com/office/drawing/2014/main" id="{3B560208-FF15-5ED2-BAAC-B04298278174}"/>
              </a:ext>
            </a:extLst>
          </p:cNvPr>
          <p:cNvSpPr/>
          <p:nvPr/>
        </p:nvSpPr>
        <p:spPr bwMode="auto">
          <a:xfrm>
            <a:off x="2895600" y="5359400"/>
            <a:ext cx="6019800" cy="8382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9" name="Oval 8">
            <a:extLst>
              <a:ext uri="{FF2B5EF4-FFF2-40B4-BE49-F238E27FC236}">
                <a16:creationId xmlns:a16="http://schemas.microsoft.com/office/drawing/2014/main" id="{7E10D104-D2FC-1B0C-23DD-BBF807EE5D52}"/>
              </a:ext>
            </a:extLst>
          </p:cNvPr>
          <p:cNvSpPr/>
          <p:nvPr/>
        </p:nvSpPr>
        <p:spPr bwMode="auto">
          <a:xfrm>
            <a:off x="2895600" y="6128015"/>
            <a:ext cx="6019800" cy="8382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3" name="Date Placeholder 2">
            <a:extLst>
              <a:ext uri="{FF2B5EF4-FFF2-40B4-BE49-F238E27FC236}">
                <a16:creationId xmlns:a16="http://schemas.microsoft.com/office/drawing/2014/main" id="{07C209A4-49C3-E203-FA49-3924B8F52E4C}"/>
              </a:ext>
            </a:extLst>
          </p:cNvPr>
          <p:cNvSpPr>
            <a:spLocks noGrp="1"/>
          </p:cNvSpPr>
          <p:nvPr>
            <p:ph type="dt" sz="half" idx="10"/>
          </p:nvPr>
        </p:nvSpPr>
        <p:spPr/>
        <p:txBody>
          <a:bodyPr/>
          <a:lstStyle/>
          <a:p>
            <a:pPr>
              <a:defRPr/>
            </a:pPr>
            <a:endParaRPr lang="en-US" dirty="0"/>
          </a:p>
        </p:txBody>
      </p:sp>
      <p:sp>
        <p:nvSpPr>
          <p:cNvPr id="11" name="Footer Placeholder 10">
            <a:extLst>
              <a:ext uri="{FF2B5EF4-FFF2-40B4-BE49-F238E27FC236}">
                <a16:creationId xmlns:a16="http://schemas.microsoft.com/office/drawing/2014/main" id="{CD4F3964-258F-BF03-3422-9A1B6FD4EFAB}"/>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63418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628F5B-ECBC-B932-C01E-DC0A35DA7A02}"/>
              </a:ext>
            </a:extLst>
          </p:cNvPr>
          <p:cNvPicPr>
            <a:picLocks noGrp="1" noChangeAspect="1"/>
          </p:cNvPicPr>
          <p:nvPr>
            <p:ph idx="1"/>
          </p:nvPr>
        </p:nvPicPr>
        <p:blipFill>
          <a:blip r:embed="rId2"/>
          <a:stretch>
            <a:fillRect/>
          </a:stretch>
        </p:blipFill>
        <p:spPr>
          <a:xfrm>
            <a:off x="172008" y="1143000"/>
            <a:ext cx="8799983" cy="4292746"/>
          </a:xfrm>
        </p:spPr>
      </p:pic>
      <p:sp>
        <p:nvSpPr>
          <p:cNvPr id="2" name="Date Placeholder 1">
            <a:extLst>
              <a:ext uri="{FF2B5EF4-FFF2-40B4-BE49-F238E27FC236}">
                <a16:creationId xmlns:a16="http://schemas.microsoft.com/office/drawing/2014/main" id="{75FE9E45-64DD-AA2D-744C-5AA11FE8AAFC}"/>
              </a:ext>
            </a:extLst>
          </p:cNvPr>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30D87D4F-6ED9-EC09-F029-CB74DED49810}"/>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674638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9FE0D-C7B6-10D0-DAC1-C1DD44BDF7EB}"/>
              </a:ext>
            </a:extLst>
          </p:cNvPr>
          <p:cNvSpPr>
            <a:spLocks noGrp="1"/>
          </p:cNvSpPr>
          <p:nvPr>
            <p:ph type="title"/>
          </p:nvPr>
        </p:nvSpPr>
        <p:spPr/>
        <p:txBody>
          <a:bodyPr/>
          <a:lstStyle/>
          <a:p>
            <a:r>
              <a:rPr lang="en-US" dirty="0"/>
              <a:t>Quitting</a:t>
            </a:r>
          </a:p>
        </p:txBody>
      </p:sp>
      <p:sp>
        <p:nvSpPr>
          <p:cNvPr id="3" name="Content Placeholder 2">
            <a:extLst>
              <a:ext uri="{FF2B5EF4-FFF2-40B4-BE49-F238E27FC236}">
                <a16:creationId xmlns:a16="http://schemas.microsoft.com/office/drawing/2014/main" id="{87D8206F-7998-A830-9CFB-6F7F2AC52FCD}"/>
              </a:ext>
            </a:extLst>
          </p:cNvPr>
          <p:cNvSpPr>
            <a:spLocks noGrp="1"/>
          </p:cNvSpPr>
          <p:nvPr>
            <p:ph idx="1"/>
          </p:nvPr>
        </p:nvSpPr>
        <p:spPr/>
        <p:txBody>
          <a:bodyPr/>
          <a:lstStyle/>
          <a:p>
            <a:r>
              <a:rPr lang="en-US" dirty="0"/>
              <a:t>Many studies have shown that individual substance use is associated with peer use. </a:t>
            </a:r>
          </a:p>
          <a:p>
            <a:r>
              <a:rPr lang="en-US" dirty="0"/>
              <a:t>Much less frequently studied is quitting or dis-adoption</a:t>
            </a:r>
          </a:p>
          <a:p>
            <a:pPr lvl="1"/>
            <a:r>
              <a:rPr lang="en-US" dirty="0"/>
              <a:t>Stable quitting, Use         Quit</a:t>
            </a:r>
          </a:p>
          <a:p>
            <a:pPr lvl="1"/>
            <a:r>
              <a:rPr lang="en-US" dirty="0"/>
              <a:t>Temporary quitting, Use       Quit …</a:t>
            </a:r>
          </a:p>
          <a:p>
            <a:pPr lvl="1"/>
            <a:r>
              <a:rPr lang="en-US" dirty="0"/>
              <a:t>Unstable quitting, Use       Quit        Use</a:t>
            </a:r>
          </a:p>
          <a:p>
            <a:pPr lvl="1"/>
            <a:endParaRPr lang="en-US" dirty="0"/>
          </a:p>
        </p:txBody>
      </p:sp>
      <p:sp>
        <p:nvSpPr>
          <p:cNvPr id="4" name="Date Placeholder 3">
            <a:extLst>
              <a:ext uri="{FF2B5EF4-FFF2-40B4-BE49-F238E27FC236}">
                <a16:creationId xmlns:a16="http://schemas.microsoft.com/office/drawing/2014/main" id="{702B6BA5-AA2E-7B97-B953-BA241AE62F8E}"/>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4E4E988B-B576-A6D2-46D8-847ED1EA981D}"/>
              </a:ext>
            </a:extLst>
          </p:cNvPr>
          <p:cNvSpPr>
            <a:spLocks noGrp="1"/>
          </p:cNvSpPr>
          <p:nvPr>
            <p:ph type="ftr" sz="quarter" idx="11"/>
          </p:nvPr>
        </p:nvSpPr>
        <p:spPr/>
        <p:txBody>
          <a:bodyPr/>
          <a:lstStyle/>
          <a:p>
            <a:pPr>
              <a:defRPr/>
            </a:pPr>
            <a:r>
              <a:rPr lang="en-US" dirty="0"/>
              <a:t>Slide # </a:t>
            </a:r>
            <a:fld id="{EF6EE748-6D85-4FEF-868A-97D7BF9BB179}" type="slidenum">
              <a:rPr lang="en-US" smtClean="0"/>
              <a:pPr>
                <a:defRPr/>
              </a:pPr>
              <a:t>14</a:t>
            </a:fld>
            <a:endParaRPr lang="en-US" dirty="0"/>
          </a:p>
        </p:txBody>
      </p:sp>
      <p:cxnSp>
        <p:nvCxnSpPr>
          <p:cNvPr id="7" name="Straight Arrow Connector 6">
            <a:extLst>
              <a:ext uri="{FF2B5EF4-FFF2-40B4-BE49-F238E27FC236}">
                <a16:creationId xmlns:a16="http://schemas.microsoft.com/office/drawing/2014/main" id="{2CA1E87D-06FB-6165-5647-01F5974D0841}"/>
              </a:ext>
            </a:extLst>
          </p:cNvPr>
          <p:cNvCxnSpPr>
            <a:cxnSpLocks/>
          </p:cNvCxnSpPr>
          <p:nvPr/>
        </p:nvCxnSpPr>
        <p:spPr bwMode="auto">
          <a:xfrm>
            <a:off x="4495800" y="4531360"/>
            <a:ext cx="6096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70BACB9B-1FFD-DD04-3076-10E6E3F2F2F5}"/>
              </a:ext>
            </a:extLst>
          </p:cNvPr>
          <p:cNvCxnSpPr>
            <a:cxnSpLocks/>
          </p:cNvCxnSpPr>
          <p:nvPr/>
        </p:nvCxnSpPr>
        <p:spPr bwMode="auto">
          <a:xfrm>
            <a:off x="6172200" y="5486400"/>
            <a:ext cx="6096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B05B4609-AFF8-509A-8089-62E0C230C494}"/>
              </a:ext>
            </a:extLst>
          </p:cNvPr>
          <p:cNvCxnSpPr>
            <a:cxnSpLocks/>
          </p:cNvCxnSpPr>
          <p:nvPr/>
        </p:nvCxnSpPr>
        <p:spPr bwMode="auto">
          <a:xfrm>
            <a:off x="4815840" y="5486400"/>
            <a:ext cx="6096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0F8585FD-7BA3-09D2-DED2-0D248047DC77}"/>
              </a:ext>
            </a:extLst>
          </p:cNvPr>
          <p:cNvCxnSpPr>
            <a:cxnSpLocks/>
          </p:cNvCxnSpPr>
          <p:nvPr/>
        </p:nvCxnSpPr>
        <p:spPr bwMode="auto">
          <a:xfrm>
            <a:off x="5105400" y="5029200"/>
            <a:ext cx="6096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590708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53F0AC-69A2-7E1C-CDFF-C90A3787A5B9}"/>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E536A2AF-8730-55E0-3A60-1DFC11F6DB85}"/>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15</a:t>
            </a:fld>
            <a:endParaRPr lang="en-US" dirty="0"/>
          </a:p>
        </p:txBody>
      </p:sp>
      <p:pic>
        <p:nvPicPr>
          <p:cNvPr id="6" name="image3.png">
            <a:extLst>
              <a:ext uri="{FF2B5EF4-FFF2-40B4-BE49-F238E27FC236}">
                <a16:creationId xmlns:a16="http://schemas.microsoft.com/office/drawing/2014/main" id="{0AB816DB-23D5-7A59-A0D1-EA49DE066EE5}"/>
              </a:ext>
            </a:extLst>
          </p:cNvPr>
          <p:cNvPicPr>
            <a:picLocks noGrp="1"/>
          </p:cNvPicPr>
          <p:nvPr>
            <p:ph idx="1"/>
          </p:nvPr>
        </p:nvPicPr>
        <p:blipFill>
          <a:blip r:embed="rId2"/>
          <a:srcRect/>
          <a:stretch>
            <a:fillRect/>
          </a:stretch>
        </p:blipFill>
        <p:spPr>
          <a:xfrm>
            <a:off x="457200" y="1825873"/>
            <a:ext cx="8229600" cy="4074616"/>
          </a:xfrm>
          <a:prstGeom prst="rect">
            <a:avLst/>
          </a:prstGeom>
          <a:ln/>
        </p:spPr>
      </p:pic>
    </p:spTree>
    <p:extLst>
      <p:ext uri="{BB962C8B-B14F-4D97-AF65-F5344CB8AC3E}">
        <p14:creationId xmlns:p14="http://schemas.microsoft.com/office/powerpoint/2010/main" val="1712565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0B41-69D0-80A8-167F-F366C76C2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03FCA-3D83-B035-3A6F-DE0486F9A0FA}"/>
              </a:ext>
            </a:extLst>
          </p:cNvPr>
          <p:cNvSpPr>
            <a:spLocks noGrp="1"/>
          </p:cNvSpPr>
          <p:nvPr>
            <p:ph type="title"/>
          </p:nvPr>
        </p:nvSpPr>
        <p:spPr/>
        <p:txBody>
          <a:bodyPr/>
          <a:lstStyle/>
          <a:p>
            <a:r>
              <a:rPr lang="en-US" dirty="0"/>
              <a:t>Past 6-Month E-cigarette Use</a:t>
            </a:r>
          </a:p>
        </p:txBody>
      </p:sp>
      <p:graphicFrame>
        <p:nvGraphicFramePr>
          <p:cNvPr id="6" name="Content Placeholder 5">
            <a:extLst>
              <a:ext uri="{FF2B5EF4-FFF2-40B4-BE49-F238E27FC236}">
                <a16:creationId xmlns:a16="http://schemas.microsoft.com/office/drawing/2014/main" id="{45623368-5E79-8E5D-B1A2-C90878D77682}"/>
              </a:ext>
            </a:extLst>
          </p:cNvPr>
          <p:cNvGraphicFramePr>
            <a:graphicFrameLocks noGrp="1"/>
          </p:cNvGraphicFramePr>
          <p:nvPr>
            <p:ph idx="1"/>
          </p:nvPr>
        </p:nvGraphicFramePr>
        <p:xfrm>
          <a:off x="228600" y="1531688"/>
          <a:ext cx="8610603" cy="4803770"/>
        </p:xfrm>
        <a:graphic>
          <a:graphicData uri="http://schemas.openxmlformats.org/drawingml/2006/table">
            <a:tbl>
              <a:tblPr>
                <a:tableStyleId>{5C22544A-7EE6-4342-B048-85BDC9FD1C3A}</a:tableStyleId>
              </a:tblPr>
              <a:tblGrid>
                <a:gridCol w="2802439">
                  <a:extLst>
                    <a:ext uri="{9D8B030D-6E8A-4147-A177-3AD203B41FA5}">
                      <a16:colId xmlns:a16="http://schemas.microsoft.com/office/drawing/2014/main" val="3025917641"/>
                    </a:ext>
                  </a:extLst>
                </a:gridCol>
                <a:gridCol w="1452041">
                  <a:extLst>
                    <a:ext uri="{9D8B030D-6E8A-4147-A177-3AD203B41FA5}">
                      <a16:colId xmlns:a16="http://schemas.microsoft.com/office/drawing/2014/main" val="3707643767"/>
                    </a:ext>
                  </a:extLst>
                </a:gridCol>
                <a:gridCol w="1452041">
                  <a:extLst>
                    <a:ext uri="{9D8B030D-6E8A-4147-A177-3AD203B41FA5}">
                      <a16:colId xmlns:a16="http://schemas.microsoft.com/office/drawing/2014/main" val="2488834489"/>
                    </a:ext>
                  </a:extLst>
                </a:gridCol>
                <a:gridCol w="1452041">
                  <a:extLst>
                    <a:ext uri="{9D8B030D-6E8A-4147-A177-3AD203B41FA5}">
                      <a16:colId xmlns:a16="http://schemas.microsoft.com/office/drawing/2014/main" val="3781202509"/>
                    </a:ext>
                  </a:extLst>
                </a:gridCol>
                <a:gridCol w="1452041">
                  <a:extLst>
                    <a:ext uri="{9D8B030D-6E8A-4147-A177-3AD203B41FA5}">
                      <a16:colId xmlns:a16="http://schemas.microsoft.com/office/drawing/2014/main" val="4242900663"/>
                    </a:ext>
                  </a:extLst>
                </a:gridCol>
              </a:tblGrid>
              <a:tr h="539446">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Adopters</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Stable Quitters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Temporary Quitters</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Unstable Quitters</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381939892"/>
                  </a:ext>
                </a:extLst>
              </a:tr>
              <a:tr h="250192">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7967519"/>
                  </a:ext>
                </a:extLst>
              </a:tr>
              <a:tr h="250192">
                <a:tc>
                  <a:txBody>
                    <a:bodyPr/>
                    <a:lstStyle/>
                    <a:p>
                      <a:pPr marL="0" marR="0">
                        <a:lnSpc>
                          <a:spcPct val="115000"/>
                        </a:lnSpc>
                        <a:buNone/>
                      </a:pPr>
                      <a:r>
                        <a:rPr lang="en-US" sz="1600">
                          <a:effectLst/>
                        </a:rPr>
                        <a:t>N Students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1,711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161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182</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161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96130341"/>
                  </a:ext>
                </a:extLst>
              </a:tr>
              <a:tr h="250192">
                <a:tc>
                  <a:txBody>
                    <a:bodyPr/>
                    <a:lstStyle/>
                    <a:p>
                      <a:pPr marL="0" marR="0">
                        <a:lnSpc>
                          <a:spcPct val="115000"/>
                        </a:lnSpc>
                        <a:buNone/>
                      </a:pPr>
                      <a:r>
                        <a:rPr lang="en-US" sz="1600">
                          <a:effectLst/>
                        </a:rPr>
                        <a:t>N Events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193</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89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129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15</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80643288"/>
                  </a:ext>
                </a:extLst>
              </a:tr>
              <a:tr h="250192">
                <a:tc>
                  <a:txBody>
                    <a:bodyPr/>
                    <a:lstStyle/>
                    <a:p>
                      <a:pPr marL="0" marR="0">
                        <a:lnSpc>
                          <a:spcPct val="115000"/>
                        </a:lnSpc>
                        <a:buNone/>
                      </a:pPr>
                      <a:r>
                        <a:rPr lang="en-US" sz="1600" dirty="0">
                          <a:effectLst/>
                        </a:rPr>
                        <a:t>Sexual Minority</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1.45*</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0.68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0.84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1.24</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74483272"/>
                  </a:ext>
                </a:extLst>
              </a:tr>
              <a:tr h="250192">
                <a:tc>
                  <a:txBody>
                    <a:bodyPr/>
                    <a:lstStyle/>
                    <a:p>
                      <a:pPr marL="0" marR="0">
                        <a:lnSpc>
                          <a:spcPct val="115000"/>
                        </a:lnSpc>
                        <a:buNone/>
                      </a:pPr>
                      <a:r>
                        <a:rPr lang="en-US" sz="1600">
                          <a:effectLst/>
                        </a:rPr>
                        <a:t>Asian</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0.64*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0.35</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848594650"/>
                  </a:ext>
                </a:extLst>
              </a:tr>
              <a:tr h="354627">
                <a:tc>
                  <a:txBody>
                    <a:bodyPr/>
                    <a:lstStyle/>
                    <a:p>
                      <a:pPr marL="0" marR="0">
                        <a:lnSpc>
                          <a:spcPct val="115000"/>
                        </a:lnSpc>
                        <a:buNone/>
                      </a:pPr>
                      <a:r>
                        <a:rPr lang="en-US" sz="1600">
                          <a:effectLst/>
                        </a:rPr>
                        <a:t>Major Depressive Symptoms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0.74</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0.44*</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0.21*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339456147"/>
                  </a:ext>
                </a:extLst>
              </a:tr>
              <a:tr h="354627">
                <a:tc>
                  <a:txBody>
                    <a:bodyPr/>
                    <a:lstStyle/>
                    <a:p>
                      <a:pPr marL="0" marR="0">
                        <a:lnSpc>
                          <a:spcPct val="115000"/>
                        </a:lnSpc>
                        <a:buNone/>
                      </a:pPr>
                      <a:r>
                        <a:rPr lang="en-US" sz="1600">
                          <a:effectLst/>
                        </a:rPr>
                        <a:t>Generalized Anxiety Disorder</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0.87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1.20</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1.36</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105122310"/>
                  </a:ext>
                </a:extLst>
              </a:tr>
              <a:tr h="250192">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512374536"/>
                  </a:ext>
                </a:extLst>
              </a:tr>
              <a:tr h="250192">
                <a:tc>
                  <a:txBody>
                    <a:bodyPr/>
                    <a:lstStyle/>
                    <a:p>
                      <a:pPr marL="0" marR="0">
                        <a:lnSpc>
                          <a:spcPct val="115000"/>
                        </a:lnSpc>
                        <a:buNone/>
                      </a:pPr>
                      <a:r>
                        <a:rPr lang="en-US" sz="1600">
                          <a:effectLst/>
                        </a:rPr>
                        <a:t>Out-degree</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0.91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894501678"/>
                  </a:ext>
                </a:extLst>
              </a:tr>
              <a:tr h="250192">
                <a:tc>
                  <a:txBody>
                    <a:bodyPr/>
                    <a:lstStyle/>
                    <a:p>
                      <a:pPr marL="0" marR="0">
                        <a:lnSpc>
                          <a:spcPct val="115000"/>
                        </a:lnSpc>
                        <a:buNone/>
                      </a:pPr>
                      <a:r>
                        <a:rPr lang="en-US" sz="1600">
                          <a:effectLst/>
                        </a:rPr>
                        <a:t>In-degree</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1.09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1.07</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3390355"/>
                  </a:ext>
                </a:extLst>
              </a:tr>
              <a:tr h="250192">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089300610"/>
                  </a:ext>
                </a:extLst>
              </a:tr>
              <a:tr h="354627">
                <a:tc>
                  <a:txBody>
                    <a:bodyPr/>
                    <a:lstStyle/>
                    <a:p>
                      <a:pPr marL="0" marR="0">
                        <a:lnSpc>
                          <a:spcPct val="115000"/>
                        </a:lnSpc>
                        <a:buNone/>
                      </a:pPr>
                      <a:r>
                        <a:rPr lang="en-US" sz="1600">
                          <a:effectLst/>
                        </a:rPr>
                        <a:t>Perceived Friend Use (N)</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0.73*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0.72*</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0.78</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4038304"/>
                  </a:ext>
                </a:extLst>
              </a:tr>
              <a:tr h="354627">
                <a:tc>
                  <a:txBody>
                    <a:bodyPr/>
                    <a:lstStyle/>
                    <a:p>
                      <a:pPr marL="0" marR="0">
                        <a:lnSpc>
                          <a:spcPct val="115000"/>
                        </a:lnSpc>
                        <a:buNone/>
                      </a:pPr>
                      <a:r>
                        <a:rPr lang="en-US" sz="1600">
                          <a:effectLst/>
                        </a:rPr>
                        <a:t>Network Exposure Users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5.68*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0.10*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0.23*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0.80</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748348082"/>
                  </a:ext>
                </a:extLst>
              </a:tr>
              <a:tr h="354627">
                <a:tc>
                  <a:txBody>
                    <a:bodyPr/>
                    <a:lstStyle/>
                    <a:p>
                      <a:pPr marL="0" marR="0">
                        <a:lnSpc>
                          <a:spcPct val="115000"/>
                        </a:lnSpc>
                        <a:buNone/>
                      </a:pPr>
                      <a:r>
                        <a:rPr lang="en-US" sz="1600">
                          <a:effectLst/>
                        </a:rPr>
                        <a:t>Network Exposure Disadopters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1.81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0.37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0.40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0.04</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2418691"/>
                  </a:ext>
                </a:extLst>
              </a:tr>
            </a:tbl>
          </a:graphicData>
        </a:graphic>
      </p:graphicFrame>
      <p:sp>
        <p:nvSpPr>
          <p:cNvPr id="4" name="Date Placeholder 3">
            <a:extLst>
              <a:ext uri="{FF2B5EF4-FFF2-40B4-BE49-F238E27FC236}">
                <a16:creationId xmlns:a16="http://schemas.microsoft.com/office/drawing/2014/main" id="{6F49699D-A2DD-C70E-D58A-5D6AB1452216}"/>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E9ABAD5F-D603-942C-A491-1D9CCC305FD8}"/>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16</a:t>
            </a:fld>
            <a:endParaRPr lang="en-US" dirty="0"/>
          </a:p>
        </p:txBody>
      </p:sp>
      <p:sp>
        <p:nvSpPr>
          <p:cNvPr id="7" name="Oval 6">
            <a:extLst>
              <a:ext uri="{FF2B5EF4-FFF2-40B4-BE49-F238E27FC236}">
                <a16:creationId xmlns:a16="http://schemas.microsoft.com/office/drawing/2014/main" id="{5CF8C5C7-2AD4-7E58-8A41-ED94F62FD7A6}"/>
              </a:ext>
            </a:extLst>
          </p:cNvPr>
          <p:cNvSpPr/>
          <p:nvPr/>
        </p:nvSpPr>
        <p:spPr bwMode="auto">
          <a:xfrm>
            <a:off x="2362199" y="4953000"/>
            <a:ext cx="6324601" cy="16764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123547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DC6D7-0329-0C64-6C0B-C1060659D88F}"/>
              </a:ext>
            </a:extLst>
          </p:cNvPr>
          <p:cNvSpPr>
            <a:spLocks noGrp="1"/>
          </p:cNvSpPr>
          <p:nvPr>
            <p:ph type="title"/>
          </p:nvPr>
        </p:nvSpPr>
        <p:spPr>
          <a:xfrm>
            <a:off x="457200" y="838200"/>
            <a:ext cx="8229600" cy="808038"/>
          </a:xfrm>
        </p:spPr>
        <p:txBody>
          <a:bodyPr/>
          <a:lstStyle/>
          <a:p>
            <a:r>
              <a:rPr lang="en-US" sz="3600" dirty="0"/>
              <a:t>Quit rates as a function of the number of </a:t>
            </a:r>
            <a:r>
              <a:rPr lang="en-US" sz="3600" u="sng" dirty="0"/>
              <a:t>perceived</a:t>
            </a:r>
            <a:r>
              <a:rPr lang="en-US" sz="3600" dirty="0"/>
              <a:t> friends who vape</a:t>
            </a:r>
          </a:p>
        </p:txBody>
      </p:sp>
      <p:graphicFrame>
        <p:nvGraphicFramePr>
          <p:cNvPr id="6" name="Content Placeholder 5">
            <a:extLst>
              <a:ext uri="{FF2B5EF4-FFF2-40B4-BE49-F238E27FC236}">
                <a16:creationId xmlns:a16="http://schemas.microsoft.com/office/drawing/2014/main" id="{525045A1-4B94-770E-ADEA-9B9C638CBC44}"/>
              </a:ext>
            </a:extLst>
          </p:cNvPr>
          <p:cNvGraphicFramePr>
            <a:graphicFrameLocks noGrp="1"/>
          </p:cNvGraphicFramePr>
          <p:nvPr>
            <p:ph idx="1"/>
            <p:extLst>
              <p:ext uri="{D42A27DB-BD31-4B8C-83A1-F6EECF244321}">
                <p14:modId xmlns:p14="http://schemas.microsoft.com/office/powerpoint/2010/main" val="88879817"/>
              </p:ext>
            </p:extLst>
          </p:nvPr>
        </p:nvGraphicFramePr>
        <p:xfrm>
          <a:off x="419099" y="1891665"/>
          <a:ext cx="8305801" cy="4343400"/>
        </p:xfrm>
        <a:graphic>
          <a:graphicData uri="http://schemas.openxmlformats.org/drawingml/2006/table">
            <a:tbl>
              <a:tblPr>
                <a:tableStyleId>{5C22544A-7EE6-4342-B048-85BDC9FD1C3A}</a:tableStyleId>
              </a:tblPr>
              <a:tblGrid>
                <a:gridCol w="1287577">
                  <a:extLst>
                    <a:ext uri="{9D8B030D-6E8A-4147-A177-3AD203B41FA5}">
                      <a16:colId xmlns:a16="http://schemas.microsoft.com/office/drawing/2014/main" val="3700721296"/>
                    </a:ext>
                  </a:extLst>
                </a:gridCol>
                <a:gridCol w="1170444">
                  <a:extLst>
                    <a:ext uri="{9D8B030D-6E8A-4147-A177-3AD203B41FA5}">
                      <a16:colId xmlns:a16="http://schemas.microsoft.com/office/drawing/2014/main" val="3854711185"/>
                    </a:ext>
                  </a:extLst>
                </a:gridCol>
                <a:gridCol w="1169556">
                  <a:extLst>
                    <a:ext uri="{9D8B030D-6E8A-4147-A177-3AD203B41FA5}">
                      <a16:colId xmlns:a16="http://schemas.microsoft.com/office/drawing/2014/main" val="750756703"/>
                    </a:ext>
                  </a:extLst>
                </a:gridCol>
                <a:gridCol w="1169556">
                  <a:extLst>
                    <a:ext uri="{9D8B030D-6E8A-4147-A177-3AD203B41FA5}">
                      <a16:colId xmlns:a16="http://schemas.microsoft.com/office/drawing/2014/main" val="1554467074"/>
                    </a:ext>
                  </a:extLst>
                </a:gridCol>
                <a:gridCol w="1169556">
                  <a:extLst>
                    <a:ext uri="{9D8B030D-6E8A-4147-A177-3AD203B41FA5}">
                      <a16:colId xmlns:a16="http://schemas.microsoft.com/office/drawing/2014/main" val="626550961"/>
                    </a:ext>
                  </a:extLst>
                </a:gridCol>
                <a:gridCol w="1169556">
                  <a:extLst>
                    <a:ext uri="{9D8B030D-6E8A-4147-A177-3AD203B41FA5}">
                      <a16:colId xmlns:a16="http://schemas.microsoft.com/office/drawing/2014/main" val="2696922772"/>
                    </a:ext>
                  </a:extLst>
                </a:gridCol>
                <a:gridCol w="1169556">
                  <a:extLst>
                    <a:ext uri="{9D8B030D-6E8A-4147-A177-3AD203B41FA5}">
                      <a16:colId xmlns:a16="http://schemas.microsoft.com/office/drawing/2014/main" val="3375334005"/>
                    </a:ext>
                  </a:extLst>
                </a:gridCol>
              </a:tblGrid>
              <a:tr h="766116">
                <a:tc>
                  <a:txBody>
                    <a:bodyPr/>
                    <a:lstStyle/>
                    <a:p>
                      <a:pPr marL="0" marR="0" algn="ctr">
                        <a:lnSpc>
                          <a:spcPct val="115000"/>
                        </a:lnSpc>
                        <a:buNone/>
                      </a:pPr>
                      <a:r>
                        <a:rPr lang="en-US" sz="1600" dirty="0">
                          <a:effectLst/>
                        </a:rPr>
                        <a:t># Perc. Friends</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At Risk for Use</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N </a:t>
                      </a:r>
                    </a:p>
                    <a:p>
                      <a:pPr marL="0" marR="0" algn="ctr">
                        <a:lnSpc>
                          <a:spcPct val="115000"/>
                        </a:lnSpc>
                        <a:buNone/>
                      </a:pPr>
                      <a:r>
                        <a:rPr lang="en-US" sz="1600" dirty="0">
                          <a:effectLst/>
                        </a:rPr>
                        <a:t>Users</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Use </a:t>
                      </a:r>
                    </a:p>
                    <a:p>
                      <a:pPr marL="0" marR="0" algn="ctr">
                        <a:lnSpc>
                          <a:spcPct val="115000"/>
                        </a:lnSpc>
                        <a:buNone/>
                      </a:pPr>
                      <a:r>
                        <a:rPr lang="en-US" sz="1600" dirty="0">
                          <a:effectLst/>
                        </a:rPr>
                        <a:t>Rate</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N at Risk for Quitting</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N </a:t>
                      </a:r>
                    </a:p>
                    <a:p>
                      <a:pPr marL="0" marR="0" algn="ctr">
                        <a:lnSpc>
                          <a:spcPct val="115000"/>
                        </a:lnSpc>
                        <a:buNone/>
                      </a:pPr>
                      <a:r>
                        <a:rPr lang="en-US" sz="1600" dirty="0">
                          <a:effectLst/>
                        </a:rPr>
                        <a:t>Quitters</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Quit </a:t>
                      </a:r>
                    </a:p>
                    <a:p>
                      <a:pPr marL="0" marR="0" algn="ctr">
                        <a:lnSpc>
                          <a:spcPct val="115000"/>
                        </a:lnSpc>
                        <a:buNone/>
                      </a:pPr>
                      <a:r>
                        <a:rPr lang="en-US" sz="1600" dirty="0">
                          <a:effectLst/>
                        </a:rPr>
                        <a:t>Rate</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3679464484"/>
                  </a:ext>
                </a:extLst>
              </a:tr>
              <a:tr h="596214">
                <a:tc>
                  <a:txBody>
                    <a:bodyPr/>
                    <a:lstStyle/>
                    <a:p>
                      <a:pPr marL="0" marR="0" algn="ctr">
                        <a:lnSpc>
                          <a:spcPct val="115000"/>
                        </a:lnSpc>
                        <a:buNone/>
                      </a:pPr>
                      <a:r>
                        <a:rPr lang="en-US" sz="1600" dirty="0">
                          <a:effectLst/>
                        </a:rPr>
                        <a:t>0</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17492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376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0.0215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388</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210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54.12%</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99546399"/>
                  </a:ext>
                </a:extLst>
              </a:tr>
              <a:tr h="596214">
                <a:tc>
                  <a:txBody>
                    <a:bodyPr/>
                    <a:lstStyle/>
                    <a:p>
                      <a:pPr marL="0" marR="0" algn="ctr">
                        <a:lnSpc>
                          <a:spcPct val="115000"/>
                        </a:lnSpc>
                        <a:buNone/>
                      </a:pPr>
                      <a:r>
                        <a:rPr lang="en-US" sz="1600">
                          <a:effectLst/>
                        </a:rPr>
                        <a:t>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2067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106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0.0513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224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95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42.41%</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2566666549"/>
                  </a:ext>
                </a:extLst>
              </a:tr>
              <a:tr h="596214">
                <a:tc>
                  <a:txBody>
                    <a:bodyPr/>
                    <a:lstStyle/>
                    <a:p>
                      <a:pPr marL="0" marR="0" algn="ctr">
                        <a:lnSpc>
                          <a:spcPct val="115000"/>
                        </a:lnSpc>
                        <a:buNone/>
                      </a:pPr>
                      <a:r>
                        <a:rPr lang="en-US" sz="1600">
                          <a:effectLst/>
                        </a:rPr>
                        <a:t>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1246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111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0.0891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247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77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31.17%</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3815372464"/>
                  </a:ext>
                </a:extLst>
              </a:tr>
              <a:tr h="596214">
                <a:tc>
                  <a:txBody>
                    <a:bodyPr/>
                    <a:lstStyle/>
                    <a:p>
                      <a:pPr marL="0" marR="0" algn="ctr">
                        <a:lnSpc>
                          <a:spcPct val="115000"/>
                        </a:lnSpc>
                        <a:buNone/>
                      </a:pPr>
                      <a:r>
                        <a:rPr lang="en-US" sz="1600">
                          <a:effectLst/>
                        </a:rPr>
                        <a:t>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652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62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0.0951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223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61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27.35%</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2993428606"/>
                  </a:ext>
                </a:extLst>
              </a:tr>
              <a:tr h="596214">
                <a:tc>
                  <a:txBody>
                    <a:bodyPr/>
                    <a:lstStyle/>
                    <a:p>
                      <a:pPr marL="0" marR="0" algn="ctr">
                        <a:lnSpc>
                          <a:spcPct val="115000"/>
                        </a:lnSpc>
                        <a:buNone/>
                      </a:pPr>
                      <a:r>
                        <a:rPr lang="en-US" sz="1600">
                          <a:effectLst/>
                        </a:rPr>
                        <a:t>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214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0.0935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127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21.26%</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3078890614"/>
                  </a:ext>
                </a:extLst>
              </a:tr>
              <a:tr h="596214">
                <a:tc>
                  <a:txBody>
                    <a:bodyPr/>
                    <a:lstStyle/>
                    <a:p>
                      <a:pPr marL="0" marR="0" algn="ctr">
                        <a:lnSpc>
                          <a:spcPct val="115000"/>
                        </a:lnSpc>
                        <a:buNone/>
                      </a:pPr>
                      <a:r>
                        <a:rPr lang="en-US" sz="1600">
                          <a:effectLst/>
                        </a:rPr>
                        <a:t>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269</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31</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0.1152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193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40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20.73%</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1151986056"/>
                  </a:ext>
                </a:extLst>
              </a:tr>
            </a:tbl>
          </a:graphicData>
        </a:graphic>
      </p:graphicFrame>
      <p:sp>
        <p:nvSpPr>
          <p:cNvPr id="4" name="Date Placeholder 3">
            <a:extLst>
              <a:ext uri="{FF2B5EF4-FFF2-40B4-BE49-F238E27FC236}">
                <a16:creationId xmlns:a16="http://schemas.microsoft.com/office/drawing/2014/main" id="{F44B1A7E-7352-8B97-75F5-5D889438E6FA}"/>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8A9151E5-E692-E745-A0FC-3CA66CD4BBC9}"/>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17</a:t>
            </a:fld>
            <a:endParaRPr lang="en-US" dirty="0"/>
          </a:p>
        </p:txBody>
      </p:sp>
      <p:sp>
        <p:nvSpPr>
          <p:cNvPr id="7" name="Oval 6">
            <a:extLst>
              <a:ext uri="{FF2B5EF4-FFF2-40B4-BE49-F238E27FC236}">
                <a16:creationId xmlns:a16="http://schemas.microsoft.com/office/drawing/2014/main" id="{65FBAEEA-8AB0-9C92-39CB-36D1FD854F44}"/>
              </a:ext>
            </a:extLst>
          </p:cNvPr>
          <p:cNvSpPr/>
          <p:nvPr/>
        </p:nvSpPr>
        <p:spPr bwMode="auto">
          <a:xfrm rot="5400000">
            <a:off x="5479732" y="3133408"/>
            <a:ext cx="5499735" cy="16764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131491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05754-3E7D-6BE5-157C-6E0DAE7B651F}"/>
              </a:ext>
            </a:extLst>
          </p:cNvPr>
          <p:cNvSpPr>
            <a:spLocks noGrp="1"/>
          </p:cNvSpPr>
          <p:nvPr>
            <p:ph type="title"/>
          </p:nvPr>
        </p:nvSpPr>
        <p:spPr>
          <a:xfrm>
            <a:off x="457200" y="818897"/>
            <a:ext cx="8229600" cy="808038"/>
          </a:xfrm>
        </p:spPr>
        <p:txBody>
          <a:bodyPr/>
          <a:lstStyle/>
          <a:p>
            <a:r>
              <a:rPr lang="en-US" sz="3600" dirty="0"/>
              <a:t>Quit rates as a function of the number of </a:t>
            </a:r>
            <a:r>
              <a:rPr lang="en-US" sz="3600" u="sng" dirty="0"/>
              <a:t>network</a:t>
            </a:r>
            <a:r>
              <a:rPr lang="en-US" sz="3600" dirty="0"/>
              <a:t> ties who vape</a:t>
            </a:r>
          </a:p>
        </p:txBody>
      </p:sp>
      <p:graphicFrame>
        <p:nvGraphicFramePr>
          <p:cNvPr id="6" name="Content Placeholder 5">
            <a:extLst>
              <a:ext uri="{FF2B5EF4-FFF2-40B4-BE49-F238E27FC236}">
                <a16:creationId xmlns:a16="http://schemas.microsoft.com/office/drawing/2014/main" id="{5E9FE82D-A75D-4D77-D61C-7C1656F75D2B}"/>
              </a:ext>
            </a:extLst>
          </p:cNvPr>
          <p:cNvGraphicFramePr>
            <a:graphicFrameLocks noGrp="1"/>
          </p:cNvGraphicFramePr>
          <p:nvPr>
            <p:ph idx="1"/>
            <p:extLst>
              <p:ext uri="{D42A27DB-BD31-4B8C-83A1-F6EECF244321}">
                <p14:modId xmlns:p14="http://schemas.microsoft.com/office/powerpoint/2010/main" val="3317297282"/>
              </p:ext>
            </p:extLst>
          </p:nvPr>
        </p:nvGraphicFramePr>
        <p:xfrm>
          <a:off x="428928" y="2133600"/>
          <a:ext cx="8229601" cy="3962400"/>
        </p:xfrm>
        <a:graphic>
          <a:graphicData uri="http://schemas.openxmlformats.org/drawingml/2006/table">
            <a:tbl>
              <a:tblPr>
                <a:tableStyleId>{5C22544A-7EE6-4342-B048-85BDC9FD1C3A}</a:tableStyleId>
              </a:tblPr>
              <a:tblGrid>
                <a:gridCol w="1275157">
                  <a:extLst>
                    <a:ext uri="{9D8B030D-6E8A-4147-A177-3AD203B41FA5}">
                      <a16:colId xmlns:a16="http://schemas.microsoft.com/office/drawing/2014/main" val="1578510547"/>
                    </a:ext>
                  </a:extLst>
                </a:gridCol>
                <a:gridCol w="1159074">
                  <a:extLst>
                    <a:ext uri="{9D8B030D-6E8A-4147-A177-3AD203B41FA5}">
                      <a16:colId xmlns:a16="http://schemas.microsoft.com/office/drawing/2014/main" val="539832509"/>
                    </a:ext>
                  </a:extLst>
                </a:gridCol>
                <a:gridCol w="1159074">
                  <a:extLst>
                    <a:ext uri="{9D8B030D-6E8A-4147-A177-3AD203B41FA5}">
                      <a16:colId xmlns:a16="http://schemas.microsoft.com/office/drawing/2014/main" val="2301381586"/>
                    </a:ext>
                  </a:extLst>
                </a:gridCol>
                <a:gridCol w="1159074">
                  <a:extLst>
                    <a:ext uri="{9D8B030D-6E8A-4147-A177-3AD203B41FA5}">
                      <a16:colId xmlns:a16="http://schemas.microsoft.com/office/drawing/2014/main" val="2298386223"/>
                    </a:ext>
                  </a:extLst>
                </a:gridCol>
                <a:gridCol w="1159074">
                  <a:extLst>
                    <a:ext uri="{9D8B030D-6E8A-4147-A177-3AD203B41FA5}">
                      <a16:colId xmlns:a16="http://schemas.microsoft.com/office/drawing/2014/main" val="1450245940"/>
                    </a:ext>
                  </a:extLst>
                </a:gridCol>
                <a:gridCol w="1159074">
                  <a:extLst>
                    <a:ext uri="{9D8B030D-6E8A-4147-A177-3AD203B41FA5}">
                      <a16:colId xmlns:a16="http://schemas.microsoft.com/office/drawing/2014/main" val="4243086409"/>
                    </a:ext>
                  </a:extLst>
                </a:gridCol>
                <a:gridCol w="1159074">
                  <a:extLst>
                    <a:ext uri="{9D8B030D-6E8A-4147-A177-3AD203B41FA5}">
                      <a16:colId xmlns:a16="http://schemas.microsoft.com/office/drawing/2014/main" val="62709633"/>
                    </a:ext>
                  </a:extLst>
                </a:gridCol>
              </a:tblGrid>
              <a:tr h="838200">
                <a:tc>
                  <a:txBody>
                    <a:bodyPr/>
                    <a:lstStyle/>
                    <a:p>
                      <a:pPr marL="0" marR="0" algn="ctr">
                        <a:lnSpc>
                          <a:spcPct val="115000"/>
                        </a:lnSpc>
                        <a:buNone/>
                      </a:pPr>
                      <a:r>
                        <a:rPr lang="en-US" sz="1600" dirty="0">
                          <a:effectLst/>
                        </a:rPr>
                        <a:t># Network Friends</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At Risk for Use</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N Users</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Use Rate</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N at Risk for Quitting</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N Quitters</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Quit Rate</a:t>
                      </a:r>
                      <a:endParaRPr lang="en-US" sz="160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350206037"/>
                  </a:ext>
                </a:extLst>
              </a:tr>
              <a:tr h="549408">
                <a:tc>
                  <a:txBody>
                    <a:bodyPr/>
                    <a:lstStyle/>
                    <a:p>
                      <a:pPr marL="0" marR="0" algn="ctr">
                        <a:lnSpc>
                          <a:spcPct val="115000"/>
                        </a:lnSpc>
                        <a:buNone/>
                      </a:pPr>
                      <a:r>
                        <a:rPr lang="en-US" sz="1600">
                          <a:effectLst/>
                        </a:rPr>
                        <a:t>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12223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384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0.0314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537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280</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52.14%</a:t>
                      </a:r>
                      <a:endParaRPr lang="en-US" sz="160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2411658039"/>
                  </a:ext>
                </a:extLst>
              </a:tr>
              <a:tr h="549408">
                <a:tc>
                  <a:txBody>
                    <a:bodyPr/>
                    <a:lstStyle/>
                    <a:p>
                      <a:pPr marL="0" marR="0" algn="ctr">
                        <a:lnSpc>
                          <a:spcPct val="115000"/>
                        </a:lnSpc>
                        <a:buNone/>
                      </a:pPr>
                      <a:r>
                        <a:rPr lang="en-US" sz="1600">
                          <a:effectLst/>
                        </a:rPr>
                        <a:t>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2024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154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0.0761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285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130</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45.61%</a:t>
                      </a:r>
                      <a:endParaRPr lang="en-US" sz="160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3283239440"/>
                  </a:ext>
                </a:extLst>
              </a:tr>
              <a:tr h="549408">
                <a:tc>
                  <a:txBody>
                    <a:bodyPr/>
                    <a:lstStyle/>
                    <a:p>
                      <a:pPr marL="0" marR="0" algn="ctr">
                        <a:lnSpc>
                          <a:spcPct val="115000"/>
                        </a:lnSpc>
                        <a:buNone/>
                      </a:pPr>
                      <a:r>
                        <a:rPr lang="en-US" sz="1600">
                          <a:effectLst/>
                        </a:rPr>
                        <a:t>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342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31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0.0906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91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34</a:t>
                      </a:r>
                      <a:endParaRPr lang="en-US" sz="1600" dirty="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37.36%</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1629923571"/>
                  </a:ext>
                </a:extLst>
              </a:tr>
              <a:tr h="549408">
                <a:tc>
                  <a:txBody>
                    <a:bodyPr/>
                    <a:lstStyle/>
                    <a:p>
                      <a:pPr marL="0" marR="0" algn="ctr">
                        <a:lnSpc>
                          <a:spcPct val="115000"/>
                        </a:lnSpc>
                        <a:buNone/>
                      </a:pPr>
                      <a:r>
                        <a:rPr lang="en-US" sz="1600">
                          <a:effectLst/>
                        </a:rPr>
                        <a:t>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45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0.1333</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29.41%</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4198483716"/>
                  </a:ext>
                </a:extLst>
              </a:tr>
              <a:tr h="549408">
                <a:tc>
                  <a:txBody>
                    <a:bodyPr/>
                    <a:lstStyle/>
                    <a:p>
                      <a:pPr marL="0" marR="0" algn="ctr">
                        <a:lnSpc>
                          <a:spcPct val="115000"/>
                        </a:lnSpc>
                        <a:buNone/>
                      </a:pPr>
                      <a:r>
                        <a:rPr lang="en-US" sz="1600">
                          <a:effectLst/>
                        </a:rPr>
                        <a:t>4</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6</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0.1667</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40.00%</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4270671877"/>
                  </a:ext>
                </a:extLst>
              </a:tr>
              <a:tr h="377160">
                <a:tc>
                  <a:txBody>
                    <a:bodyPr/>
                    <a:lstStyle/>
                    <a:p>
                      <a:pPr marL="0" marR="0" algn="ctr">
                        <a:lnSpc>
                          <a:spcPct val="115000"/>
                        </a:lnSpc>
                        <a:buNone/>
                      </a:pPr>
                      <a:r>
                        <a:rPr lang="en-US" sz="1600">
                          <a:effectLst/>
                        </a:rPr>
                        <a:t>5+</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1</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2</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a:effectLst/>
                        </a:rPr>
                        <a:t>0</a:t>
                      </a:r>
                      <a:endParaRPr lang="en-US" sz="1600">
                        <a:effectLst/>
                        <a:latin typeface="Arial" panose="020B0604020202020204" pitchFamily="34" charset="0"/>
                        <a:ea typeface="SimSun" panose="02010600030101010101" pitchFamily="2" charset="-122"/>
                      </a:endParaRPr>
                    </a:p>
                  </a:txBody>
                  <a:tcPr marL="25400" marR="25400" marT="0" marB="0" anchor="b"/>
                </a:tc>
                <a:tc>
                  <a:txBody>
                    <a:bodyPr/>
                    <a:lstStyle/>
                    <a:p>
                      <a:pPr marL="0" marR="0" algn="ctr">
                        <a:lnSpc>
                          <a:spcPct val="115000"/>
                        </a:lnSpc>
                        <a:buNone/>
                      </a:pPr>
                      <a:r>
                        <a:rPr lang="en-US" sz="1600" dirty="0">
                          <a:effectLst/>
                        </a:rPr>
                        <a:t>0.00%</a:t>
                      </a:r>
                      <a:endParaRPr lang="en-US" sz="1600" dirty="0">
                        <a:effectLst/>
                        <a:latin typeface="Arial" panose="020B0604020202020204" pitchFamily="34" charset="0"/>
                        <a:ea typeface="SimSun" panose="02010600030101010101" pitchFamily="2" charset="-122"/>
                      </a:endParaRPr>
                    </a:p>
                  </a:txBody>
                  <a:tcPr marL="25400" marR="25400" marT="0" marB="0" anchor="b"/>
                </a:tc>
                <a:extLst>
                  <a:ext uri="{0D108BD9-81ED-4DB2-BD59-A6C34878D82A}">
                    <a16:rowId xmlns:a16="http://schemas.microsoft.com/office/drawing/2014/main" val="4071956701"/>
                  </a:ext>
                </a:extLst>
              </a:tr>
            </a:tbl>
          </a:graphicData>
        </a:graphic>
      </p:graphicFrame>
      <p:sp>
        <p:nvSpPr>
          <p:cNvPr id="4" name="Date Placeholder 3">
            <a:extLst>
              <a:ext uri="{FF2B5EF4-FFF2-40B4-BE49-F238E27FC236}">
                <a16:creationId xmlns:a16="http://schemas.microsoft.com/office/drawing/2014/main" id="{A1C68171-9213-8038-F98E-10335E0B2CFD}"/>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C9B37E93-F1CB-0418-2499-6E666F76D70F}"/>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18</a:t>
            </a:fld>
            <a:endParaRPr lang="en-US" dirty="0"/>
          </a:p>
        </p:txBody>
      </p:sp>
      <p:sp>
        <p:nvSpPr>
          <p:cNvPr id="7" name="Oval 6">
            <a:extLst>
              <a:ext uri="{FF2B5EF4-FFF2-40B4-BE49-F238E27FC236}">
                <a16:creationId xmlns:a16="http://schemas.microsoft.com/office/drawing/2014/main" id="{3702FC0A-AD20-6E99-CFCC-52EA2C228152}"/>
              </a:ext>
            </a:extLst>
          </p:cNvPr>
          <p:cNvSpPr/>
          <p:nvPr/>
        </p:nvSpPr>
        <p:spPr bwMode="auto">
          <a:xfrm rot="5400000">
            <a:off x="5479732" y="3133408"/>
            <a:ext cx="5499735" cy="16764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330132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A6204-3A0F-189E-5BE8-90AB112380BF}"/>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70C9F7CA-49C7-4414-6320-D737B56767ED}"/>
              </a:ext>
            </a:extLst>
          </p:cNvPr>
          <p:cNvSpPr>
            <a:spLocks noGrp="1"/>
          </p:cNvSpPr>
          <p:nvPr>
            <p:ph idx="1"/>
          </p:nvPr>
        </p:nvSpPr>
        <p:spPr/>
        <p:txBody>
          <a:bodyPr/>
          <a:lstStyle/>
          <a:p>
            <a:r>
              <a:rPr lang="en-US" dirty="0"/>
              <a:t>Use was associated with peer use as usual</a:t>
            </a:r>
          </a:p>
          <a:p>
            <a:r>
              <a:rPr lang="en-US" dirty="0"/>
              <a:t>No Demographic variables were associated with quitting either stable or temporary</a:t>
            </a:r>
          </a:p>
          <a:p>
            <a:r>
              <a:rPr lang="en-US" dirty="0"/>
              <a:t>Major depressive symptoms was associated with temporary quitting</a:t>
            </a:r>
          </a:p>
          <a:p>
            <a:endParaRPr lang="en-US" dirty="0"/>
          </a:p>
        </p:txBody>
      </p:sp>
      <p:sp>
        <p:nvSpPr>
          <p:cNvPr id="4" name="Date Placeholder 3">
            <a:extLst>
              <a:ext uri="{FF2B5EF4-FFF2-40B4-BE49-F238E27FC236}">
                <a16:creationId xmlns:a16="http://schemas.microsoft.com/office/drawing/2014/main" id="{31E030B0-DF97-638D-81C7-788426A610B8}"/>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9BF2F101-6C51-BFE6-5140-881F3BF603F1}"/>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3832107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0A7F556-9C1C-9498-FBE3-11D9178CB1B7}"/>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D970DB6B-FE71-1ABF-6146-D7FD696B5E31}"/>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20</a:t>
            </a:fld>
            <a:endParaRPr lang="en-US" dirty="0"/>
          </a:p>
        </p:txBody>
      </p:sp>
      <p:pic>
        <p:nvPicPr>
          <p:cNvPr id="6" name="image5.png">
            <a:extLst>
              <a:ext uri="{FF2B5EF4-FFF2-40B4-BE49-F238E27FC236}">
                <a16:creationId xmlns:a16="http://schemas.microsoft.com/office/drawing/2014/main" id="{9073AC0A-1AA0-EF0F-624C-938E8A0CDDBB}"/>
              </a:ext>
            </a:extLst>
          </p:cNvPr>
          <p:cNvPicPr>
            <a:picLocks noGrp="1"/>
          </p:cNvPicPr>
          <p:nvPr>
            <p:ph idx="1"/>
          </p:nvPr>
        </p:nvPicPr>
        <p:blipFill>
          <a:blip r:embed="rId2"/>
          <a:srcRect/>
          <a:stretch>
            <a:fillRect/>
          </a:stretch>
        </p:blipFill>
        <p:spPr>
          <a:xfrm>
            <a:off x="5080" y="533400"/>
            <a:ext cx="9138920" cy="6553200"/>
          </a:xfrm>
          <a:prstGeom prst="rect">
            <a:avLst/>
          </a:prstGeom>
          <a:ln/>
        </p:spPr>
      </p:pic>
    </p:spTree>
    <p:extLst>
      <p:ext uri="{BB962C8B-B14F-4D97-AF65-F5344CB8AC3E}">
        <p14:creationId xmlns:p14="http://schemas.microsoft.com/office/powerpoint/2010/main" val="1899554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CE49-2DD4-A8CB-A1F2-BD942912B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630B3-8492-EA58-6EF3-45CA6FE95BEE}"/>
              </a:ext>
            </a:extLst>
          </p:cNvPr>
          <p:cNvSpPr>
            <a:spLocks noGrp="1"/>
          </p:cNvSpPr>
          <p:nvPr>
            <p:ph type="title"/>
          </p:nvPr>
        </p:nvSpPr>
        <p:spPr/>
        <p:txBody>
          <a:bodyPr/>
          <a:lstStyle/>
          <a:p>
            <a:r>
              <a:rPr lang="en-US" dirty="0"/>
              <a:t>Conclusions (2)</a:t>
            </a:r>
          </a:p>
        </p:txBody>
      </p:sp>
      <p:sp>
        <p:nvSpPr>
          <p:cNvPr id="3" name="Content Placeholder 2">
            <a:extLst>
              <a:ext uri="{FF2B5EF4-FFF2-40B4-BE49-F238E27FC236}">
                <a16:creationId xmlns:a16="http://schemas.microsoft.com/office/drawing/2014/main" id="{E40BF450-7A64-57EF-344C-8E18EF2B4EFC}"/>
              </a:ext>
            </a:extLst>
          </p:cNvPr>
          <p:cNvSpPr>
            <a:spLocks noGrp="1"/>
          </p:cNvSpPr>
          <p:nvPr>
            <p:ph idx="1"/>
          </p:nvPr>
        </p:nvSpPr>
        <p:spPr/>
        <p:txBody>
          <a:bodyPr/>
          <a:lstStyle/>
          <a:p>
            <a:r>
              <a:rPr lang="en-US" dirty="0"/>
              <a:t>Both perceived network friend use were inversely associated with quitting whether stable or temporary</a:t>
            </a:r>
          </a:p>
          <a:p>
            <a:r>
              <a:rPr lang="en-US" dirty="0"/>
              <a:t>Exposure to quitters (</a:t>
            </a:r>
            <a:r>
              <a:rPr lang="en-US" dirty="0" err="1"/>
              <a:t>disadopters</a:t>
            </a:r>
            <a:r>
              <a:rPr lang="en-US" dirty="0"/>
              <a:t>) was not associated with quitting</a:t>
            </a:r>
          </a:p>
          <a:p>
            <a:endParaRPr lang="en-US" dirty="0"/>
          </a:p>
        </p:txBody>
      </p:sp>
      <p:sp>
        <p:nvSpPr>
          <p:cNvPr id="4" name="Date Placeholder 3">
            <a:extLst>
              <a:ext uri="{FF2B5EF4-FFF2-40B4-BE49-F238E27FC236}">
                <a16:creationId xmlns:a16="http://schemas.microsoft.com/office/drawing/2014/main" id="{3831FAB6-5637-0DA1-7724-781D369275C7}"/>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36C00B81-4615-53D6-D281-1BBEE3669105}"/>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3726490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6278F-49D6-852E-69D6-17F45B139AD6}"/>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3F1AEF67-A699-9D6D-00C7-65B59230900D}"/>
              </a:ext>
            </a:extLst>
          </p:cNvPr>
          <p:cNvSpPr>
            <a:spLocks noGrp="1"/>
          </p:cNvSpPr>
          <p:nvPr>
            <p:ph idx="1"/>
          </p:nvPr>
        </p:nvSpPr>
        <p:spPr/>
        <p:txBody>
          <a:bodyPr/>
          <a:lstStyle/>
          <a:p>
            <a:r>
              <a:rPr lang="en-US" dirty="0"/>
              <a:t>This suggests that teens will continue using e-cigarettes when their friends use them but will discontinue if they do not have continued support to use</a:t>
            </a:r>
          </a:p>
        </p:txBody>
      </p:sp>
      <p:sp>
        <p:nvSpPr>
          <p:cNvPr id="4" name="Date Placeholder 3">
            <a:extLst>
              <a:ext uri="{FF2B5EF4-FFF2-40B4-BE49-F238E27FC236}">
                <a16:creationId xmlns:a16="http://schemas.microsoft.com/office/drawing/2014/main" id="{64218913-4D84-1B32-088E-A9F005849879}"/>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714BBDD0-2254-6E5A-FC0C-E75839E6B42B}"/>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22</a:t>
            </a:fld>
            <a:endParaRPr lang="en-US" dirty="0"/>
          </a:p>
        </p:txBody>
      </p:sp>
    </p:spTree>
    <p:extLst>
      <p:ext uri="{BB962C8B-B14F-4D97-AF65-F5344CB8AC3E}">
        <p14:creationId xmlns:p14="http://schemas.microsoft.com/office/powerpoint/2010/main" val="506799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52B40C-B6C5-44BE-188A-3A6ECC849FB2}"/>
              </a:ext>
            </a:extLst>
          </p:cNvPr>
          <p:cNvSpPr>
            <a:spLocks noGrp="1"/>
          </p:cNvSpPr>
          <p:nvPr>
            <p:ph type="ctrTitle"/>
          </p:nvPr>
        </p:nvSpPr>
        <p:spPr/>
        <p:txBody>
          <a:bodyPr/>
          <a:lstStyle/>
          <a:p>
            <a:r>
              <a:rPr lang="en-US" dirty="0"/>
              <a:t>Thank You!</a:t>
            </a:r>
          </a:p>
        </p:txBody>
      </p:sp>
      <p:sp>
        <p:nvSpPr>
          <p:cNvPr id="4" name="Date Placeholder 3">
            <a:extLst>
              <a:ext uri="{FF2B5EF4-FFF2-40B4-BE49-F238E27FC236}">
                <a16:creationId xmlns:a16="http://schemas.microsoft.com/office/drawing/2014/main" id="{165F7F37-FCCD-B924-CC52-EE5AD4B89296}"/>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4053261D-AC06-F692-B051-9A65F239D2B9}"/>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23</a:t>
            </a:fld>
            <a:endParaRPr lang="en-US" dirty="0"/>
          </a:p>
        </p:txBody>
      </p:sp>
    </p:spTree>
    <p:extLst>
      <p:ext uri="{BB962C8B-B14F-4D97-AF65-F5344CB8AC3E}">
        <p14:creationId xmlns:p14="http://schemas.microsoft.com/office/powerpoint/2010/main" val="1197844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840838-517F-5C23-0D32-43C37970C0B8}"/>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B3BEF714-946E-0906-0463-6D3E2E39ED4A}"/>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24</a:t>
            </a:fld>
            <a:endParaRPr lang="en-US" dirty="0"/>
          </a:p>
        </p:txBody>
      </p:sp>
      <p:pic>
        <p:nvPicPr>
          <p:cNvPr id="6" name="image4.png" descr="A graph of different colored lines&#10;&#10;AI-generated content may be incorrect.">
            <a:extLst>
              <a:ext uri="{FF2B5EF4-FFF2-40B4-BE49-F238E27FC236}">
                <a16:creationId xmlns:a16="http://schemas.microsoft.com/office/drawing/2014/main" id="{4A7C8F5E-3E93-E7D8-BB4F-E9BB953055E3}"/>
              </a:ext>
            </a:extLst>
          </p:cNvPr>
          <p:cNvPicPr>
            <a:picLocks noGrp="1"/>
          </p:cNvPicPr>
          <p:nvPr>
            <p:ph idx="1"/>
          </p:nvPr>
        </p:nvPicPr>
        <p:blipFill>
          <a:blip r:embed="rId2"/>
          <a:srcRect/>
          <a:stretch>
            <a:fillRect/>
          </a:stretch>
        </p:blipFill>
        <p:spPr>
          <a:xfrm>
            <a:off x="228600" y="698362"/>
            <a:ext cx="5349397" cy="5559425"/>
          </a:xfrm>
          <a:prstGeom prst="rect">
            <a:avLst/>
          </a:prstGeom>
          <a:ln/>
        </p:spPr>
      </p:pic>
    </p:spTree>
    <p:extLst>
      <p:ext uri="{BB962C8B-B14F-4D97-AF65-F5344CB8AC3E}">
        <p14:creationId xmlns:p14="http://schemas.microsoft.com/office/powerpoint/2010/main" val="4013054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8E3DD-D37F-819D-4DCA-171466B2E5C2}"/>
              </a:ext>
            </a:extLst>
          </p:cNvPr>
          <p:cNvSpPr>
            <a:spLocks noGrp="1"/>
          </p:cNvSpPr>
          <p:nvPr>
            <p:ph type="title"/>
          </p:nvPr>
        </p:nvSpPr>
        <p:spPr/>
        <p:txBody>
          <a:bodyPr/>
          <a:lstStyle/>
          <a:p>
            <a:r>
              <a:rPr lang="en-US" dirty="0"/>
              <a:t>Past 6-Month E-cigarette Use</a:t>
            </a:r>
          </a:p>
        </p:txBody>
      </p:sp>
      <p:graphicFrame>
        <p:nvGraphicFramePr>
          <p:cNvPr id="6" name="Content Placeholder 5">
            <a:extLst>
              <a:ext uri="{FF2B5EF4-FFF2-40B4-BE49-F238E27FC236}">
                <a16:creationId xmlns:a16="http://schemas.microsoft.com/office/drawing/2014/main" id="{5E70B012-E010-6588-E4DE-4AAE571F77DB}"/>
              </a:ext>
            </a:extLst>
          </p:cNvPr>
          <p:cNvGraphicFramePr>
            <a:graphicFrameLocks noGrp="1"/>
          </p:cNvGraphicFramePr>
          <p:nvPr>
            <p:ph idx="1"/>
          </p:nvPr>
        </p:nvGraphicFramePr>
        <p:xfrm>
          <a:off x="228600" y="1531688"/>
          <a:ext cx="8610603" cy="4803770"/>
        </p:xfrm>
        <a:graphic>
          <a:graphicData uri="http://schemas.openxmlformats.org/drawingml/2006/table">
            <a:tbl>
              <a:tblPr>
                <a:tableStyleId>{5C22544A-7EE6-4342-B048-85BDC9FD1C3A}</a:tableStyleId>
              </a:tblPr>
              <a:tblGrid>
                <a:gridCol w="2802439">
                  <a:extLst>
                    <a:ext uri="{9D8B030D-6E8A-4147-A177-3AD203B41FA5}">
                      <a16:colId xmlns:a16="http://schemas.microsoft.com/office/drawing/2014/main" val="3025917641"/>
                    </a:ext>
                  </a:extLst>
                </a:gridCol>
                <a:gridCol w="1452041">
                  <a:extLst>
                    <a:ext uri="{9D8B030D-6E8A-4147-A177-3AD203B41FA5}">
                      <a16:colId xmlns:a16="http://schemas.microsoft.com/office/drawing/2014/main" val="3707643767"/>
                    </a:ext>
                  </a:extLst>
                </a:gridCol>
                <a:gridCol w="1452041">
                  <a:extLst>
                    <a:ext uri="{9D8B030D-6E8A-4147-A177-3AD203B41FA5}">
                      <a16:colId xmlns:a16="http://schemas.microsoft.com/office/drawing/2014/main" val="2488834489"/>
                    </a:ext>
                  </a:extLst>
                </a:gridCol>
                <a:gridCol w="1452041">
                  <a:extLst>
                    <a:ext uri="{9D8B030D-6E8A-4147-A177-3AD203B41FA5}">
                      <a16:colId xmlns:a16="http://schemas.microsoft.com/office/drawing/2014/main" val="3781202509"/>
                    </a:ext>
                  </a:extLst>
                </a:gridCol>
                <a:gridCol w="1452041">
                  <a:extLst>
                    <a:ext uri="{9D8B030D-6E8A-4147-A177-3AD203B41FA5}">
                      <a16:colId xmlns:a16="http://schemas.microsoft.com/office/drawing/2014/main" val="4242900663"/>
                    </a:ext>
                  </a:extLst>
                </a:gridCol>
              </a:tblGrid>
              <a:tr h="539446">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Adopters</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Stable Quitters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Temporary Quitters</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Unstable Quitters</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381939892"/>
                  </a:ext>
                </a:extLst>
              </a:tr>
              <a:tr h="250192">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7967519"/>
                  </a:ext>
                </a:extLst>
              </a:tr>
              <a:tr h="250192">
                <a:tc>
                  <a:txBody>
                    <a:bodyPr/>
                    <a:lstStyle/>
                    <a:p>
                      <a:pPr marL="0" marR="0">
                        <a:lnSpc>
                          <a:spcPct val="115000"/>
                        </a:lnSpc>
                        <a:buNone/>
                      </a:pPr>
                      <a:r>
                        <a:rPr lang="en-US" sz="1600">
                          <a:effectLst/>
                        </a:rPr>
                        <a:t>N Students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1,711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161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182</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161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96130341"/>
                  </a:ext>
                </a:extLst>
              </a:tr>
              <a:tr h="250192">
                <a:tc>
                  <a:txBody>
                    <a:bodyPr/>
                    <a:lstStyle/>
                    <a:p>
                      <a:pPr marL="0" marR="0">
                        <a:lnSpc>
                          <a:spcPct val="115000"/>
                        </a:lnSpc>
                        <a:buNone/>
                      </a:pPr>
                      <a:r>
                        <a:rPr lang="en-US" sz="1600">
                          <a:effectLst/>
                        </a:rPr>
                        <a:t>N Events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193</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89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129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15</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80643288"/>
                  </a:ext>
                </a:extLst>
              </a:tr>
              <a:tr h="250192">
                <a:tc>
                  <a:txBody>
                    <a:bodyPr/>
                    <a:lstStyle/>
                    <a:p>
                      <a:pPr marL="0" marR="0">
                        <a:lnSpc>
                          <a:spcPct val="115000"/>
                        </a:lnSpc>
                        <a:buNone/>
                      </a:pPr>
                      <a:r>
                        <a:rPr lang="en-US" sz="1600" dirty="0">
                          <a:effectLst/>
                        </a:rPr>
                        <a:t>Sexual Minority</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1.45*</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0.68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0.84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1.24</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74483272"/>
                  </a:ext>
                </a:extLst>
              </a:tr>
              <a:tr h="250192">
                <a:tc>
                  <a:txBody>
                    <a:bodyPr/>
                    <a:lstStyle/>
                    <a:p>
                      <a:pPr marL="0" marR="0">
                        <a:lnSpc>
                          <a:spcPct val="115000"/>
                        </a:lnSpc>
                        <a:buNone/>
                      </a:pPr>
                      <a:r>
                        <a:rPr lang="en-US" sz="1600">
                          <a:effectLst/>
                        </a:rPr>
                        <a:t>Asian</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0.64*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0.35</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848594650"/>
                  </a:ext>
                </a:extLst>
              </a:tr>
              <a:tr h="354627">
                <a:tc>
                  <a:txBody>
                    <a:bodyPr/>
                    <a:lstStyle/>
                    <a:p>
                      <a:pPr marL="0" marR="0">
                        <a:lnSpc>
                          <a:spcPct val="115000"/>
                        </a:lnSpc>
                        <a:buNone/>
                      </a:pPr>
                      <a:r>
                        <a:rPr lang="en-US" sz="1600">
                          <a:effectLst/>
                        </a:rPr>
                        <a:t>Major Depressive Symptoms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0.74</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0.44*</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0.21*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339456147"/>
                  </a:ext>
                </a:extLst>
              </a:tr>
              <a:tr h="354627">
                <a:tc>
                  <a:txBody>
                    <a:bodyPr/>
                    <a:lstStyle/>
                    <a:p>
                      <a:pPr marL="0" marR="0">
                        <a:lnSpc>
                          <a:spcPct val="115000"/>
                        </a:lnSpc>
                        <a:buNone/>
                      </a:pPr>
                      <a:r>
                        <a:rPr lang="en-US" sz="1600">
                          <a:effectLst/>
                        </a:rPr>
                        <a:t>Generalized Anxiety Disorder</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0.87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1.20</a:t>
                      </a:r>
                      <a:endParaRPr lang="en-US" sz="1600" dirty="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1.36</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105122310"/>
                  </a:ext>
                </a:extLst>
              </a:tr>
              <a:tr h="250192">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512374536"/>
                  </a:ext>
                </a:extLst>
              </a:tr>
              <a:tr h="250192">
                <a:tc>
                  <a:txBody>
                    <a:bodyPr/>
                    <a:lstStyle/>
                    <a:p>
                      <a:pPr marL="0" marR="0">
                        <a:lnSpc>
                          <a:spcPct val="115000"/>
                        </a:lnSpc>
                        <a:buNone/>
                      </a:pPr>
                      <a:r>
                        <a:rPr lang="en-US" sz="1600">
                          <a:effectLst/>
                        </a:rPr>
                        <a:t>Out-degree</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0.94</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0.91</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2894501678"/>
                  </a:ext>
                </a:extLst>
              </a:tr>
              <a:tr h="250192">
                <a:tc>
                  <a:txBody>
                    <a:bodyPr/>
                    <a:lstStyle/>
                    <a:p>
                      <a:pPr marL="0" marR="0">
                        <a:lnSpc>
                          <a:spcPct val="115000"/>
                        </a:lnSpc>
                        <a:buNone/>
                      </a:pPr>
                      <a:r>
                        <a:rPr lang="en-US" sz="1600">
                          <a:effectLst/>
                        </a:rPr>
                        <a:t>In-degree</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1.09</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1.13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1.07</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3390355"/>
                  </a:ext>
                </a:extLst>
              </a:tr>
              <a:tr h="250192">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a:effectLst/>
                        </a:rPr>
                        <a:t> </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nSpc>
                          <a:spcPct val="115000"/>
                        </a:lnSpc>
                        <a:buNone/>
                      </a:pPr>
                      <a:r>
                        <a:rPr lang="en-US" sz="1600" dirty="0">
                          <a:effectLst/>
                        </a:rPr>
                        <a:t> </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1089300610"/>
                  </a:ext>
                </a:extLst>
              </a:tr>
              <a:tr h="354627">
                <a:tc>
                  <a:txBody>
                    <a:bodyPr/>
                    <a:lstStyle/>
                    <a:p>
                      <a:pPr marL="0" marR="0">
                        <a:lnSpc>
                          <a:spcPct val="115000"/>
                        </a:lnSpc>
                        <a:buNone/>
                      </a:pPr>
                      <a:r>
                        <a:rPr lang="en-US" sz="1600">
                          <a:effectLst/>
                        </a:rPr>
                        <a:t>Perceived Friend Use (N)</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1.47*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0.73*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0.72*</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0.78</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94038304"/>
                  </a:ext>
                </a:extLst>
              </a:tr>
              <a:tr h="354627">
                <a:tc>
                  <a:txBody>
                    <a:bodyPr/>
                    <a:lstStyle/>
                    <a:p>
                      <a:pPr marL="0" marR="0">
                        <a:lnSpc>
                          <a:spcPct val="115000"/>
                        </a:lnSpc>
                        <a:buNone/>
                      </a:pPr>
                      <a:r>
                        <a:rPr lang="en-US" sz="1600">
                          <a:effectLst/>
                        </a:rPr>
                        <a:t>Network Exposure Users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5.68*</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0.10*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0.23*</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0.80</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748348082"/>
                  </a:ext>
                </a:extLst>
              </a:tr>
              <a:tr h="354627">
                <a:tc>
                  <a:txBody>
                    <a:bodyPr/>
                    <a:lstStyle/>
                    <a:p>
                      <a:pPr marL="0" marR="0">
                        <a:lnSpc>
                          <a:spcPct val="115000"/>
                        </a:lnSpc>
                        <a:buNone/>
                      </a:pPr>
                      <a:r>
                        <a:rPr lang="en-US" sz="1600">
                          <a:effectLst/>
                        </a:rPr>
                        <a:t>Network Exposure Disadopters</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1.81</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0.37</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a:effectLst/>
                        </a:rPr>
                        <a:t>0.40</a:t>
                      </a:r>
                      <a:endParaRPr lang="en-US" sz="1600">
                        <a:effectLst/>
                        <a:latin typeface="Arial" panose="020B0604020202020204" pitchFamily="34" charset="0"/>
                        <a:ea typeface="SimSun" panose="02010600030101010101" pitchFamily="2" charset="-122"/>
                      </a:endParaRPr>
                    </a:p>
                  </a:txBody>
                  <a:tcPr marL="20027" marR="20027" marT="0" marB="0" anchor="b"/>
                </a:tc>
                <a:tc>
                  <a:txBody>
                    <a:bodyPr/>
                    <a:lstStyle/>
                    <a:p>
                      <a:pPr marL="0" marR="0" algn="ctr">
                        <a:lnSpc>
                          <a:spcPct val="115000"/>
                        </a:lnSpc>
                        <a:buNone/>
                      </a:pPr>
                      <a:r>
                        <a:rPr lang="en-US" sz="1600" dirty="0">
                          <a:effectLst/>
                        </a:rPr>
                        <a:t>0.04</a:t>
                      </a:r>
                      <a:endParaRPr lang="en-US" sz="1600" dirty="0">
                        <a:effectLst/>
                        <a:latin typeface="Arial" panose="020B0604020202020204" pitchFamily="34" charset="0"/>
                        <a:ea typeface="SimSun" panose="02010600030101010101" pitchFamily="2" charset="-122"/>
                      </a:endParaRPr>
                    </a:p>
                  </a:txBody>
                  <a:tcPr marL="20027" marR="20027" marT="0" marB="0" anchor="b"/>
                </a:tc>
                <a:extLst>
                  <a:ext uri="{0D108BD9-81ED-4DB2-BD59-A6C34878D82A}">
                    <a16:rowId xmlns:a16="http://schemas.microsoft.com/office/drawing/2014/main" val="322418691"/>
                  </a:ext>
                </a:extLst>
              </a:tr>
            </a:tbl>
          </a:graphicData>
        </a:graphic>
      </p:graphicFrame>
      <p:sp>
        <p:nvSpPr>
          <p:cNvPr id="4" name="Date Placeholder 3">
            <a:extLst>
              <a:ext uri="{FF2B5EF4-FFF2-40B4-BE49-F238E27FC236}">
                <a16:creationId xmlns:a16="http://schemas.microsoft.com/office/drawing/2014/main" id="{36F918A2-5E86-6B58-8446-B2900A7ED49A}"/>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F676CBF9-77AC-E49D-25F8-3D68930DC465}"/>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25</a:t>
            </a:fld>
            <a:endParaRPr lang="en-US" dirty="0"/>
          </a:p>
        </p:txBody>
      </p:sp>
      <p:sp>
        <p:nvSpPr>
          <p:cNvPr id="7" name="Oval 6">
            <a:extLst>
              <a:ext uri="{FF2B5EF4-FFF2-40B4-BE49-F238E27FC236}">
                <a16:creationId xmlns:a16="http://schemas.microsoft.com/office/drawing/2014/main" id="{05BE578F-F7BA-B778-DDCE-1D06B3630992}"/>
              </a:ext>
            </a:extLst>
          </p:cNvPr>
          <p:cNvSpPr/>
          <p:nvPr/>
        </p:nvSpPr>
        <p:spPr bwMode="auto">
          <a:xfrm>
            <a:off x="2362199" y="4953000"/>
            <a:ext cx="6324601" cy="16764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14444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F74E9-6BEA-F1D8-0DD2-08BB6752A621}"/>
              </a:ext>
            </a:extLst>
          </p:cNvPr>
          <p:cNvSpPr>
            <a:spLocks noGrp="1"/>
          </p:cNvSpPr>
          <p:nvPr>
            <p:ph type="title"/>
          </p:nvPr>
        </p:nvSpPr>
        <p:spPr>
          <a:xfrm>
            <a:off x="520700" y="685800"/>
            <a:ext cx="8229600" cy="808038"/>
          </a:xfrm>
        </p:spPr>
        <p:txBody>
          <a:bodyPr/>
          <a:lstStyle/>
          <a:p>
            <a:r>
              <a:rPr lang="en-US" dirty="0"/>
              <a:t>Asian Students More Susceptible to Peer Influence</a:t>
            </a:r>
          </a:p>
        </p:txBody>
      </p:sp>
      <p:graphicFrame>
        <p:nvGraphicFramePr>
          <p:cNvPr id="4" name="Content Placeholder 3">
            <a:extLst>
              <a:ext uri="{FF2B5EF4-FFF2-40B4-BE49-F238E27FC236}">
                <a16:creationId xmlns:a16="http://schemas.microsoft.com/office/drawing/2014/main" id="{2D4B85C7-39CA-6CCA-1C6D-3B76A7A10F4F}"/>
              </a:ext>
            </a:extLst>
          </p:cNvPr>
          <p:cNvGraphicFramePr>
            <a:graphicFrameLocks noGrp="1"/>
          </p:cNvGraphicFramePr>
          <p:nvPr>
            <p:ph idx="1"/>
            <p:extLst>
              <p:ext uri="{D42A27DB-BD31-4B8C-83A1-F6EECF244321}">
                <p14:modId xmlns:p14="http://schemas.microsoft.com/office/powerpoint/2010/main" val="4188936213"/>
              </p:ext>
            </p:extLst>
          </p:nvPr>
        </p:nvGraphicFramePr>
        <p:xfrm>
          <a:off x="406400" y="1752961"/>
          <a:ext cx="8458201" cy="5105039"/>
        </p:xfrm>
        <a:graphic>
          <a:graphicData uri="http://schemas.openxmlformats.org/drawingml/2006/table">
            <a:tbl>
              <a:tblPr>
                <a:tableStyleId>{5C22544A-7EE6-4342-B048-85BDC9FD1C3A}</a:tableStyleId>
              </a:tblPr>
              <a:tblGrid>
                <a:gridCol w="2962363">
                  <a:extLst>
                    <a:ext uri="{9D8B030D-6E8A-4147-A177-3AD203B41FA5}">
                      <a16:colId xmlns:a16="http://schemas.microsoft.com/office/drawing/2014/main" val="3206631681"/>
                    </a:ext>
                  </a:extLst>
                </a:gridCol>
                <a:gridCol w="1373517">
                  <a:extLst>
                    <a:ext uri="{9D8B030D-6E8A-4147-A177-3AD203B41FA5}">
                      <a16:colId xmlns:a16="http://schemas.microsoft.com/office/drawing/2014/main" val="2941608875"/>
                    </a:ext>
                  </a:extLst>
                </a:gridCol>
                <a:gridCol w="1374402">
                  <a:extLst>
                    <a:ext uri="{9D8B030D-6E8A-4147-A177-3AD203B41FA5}">
                      <a16:colId xmlns:a16="http://schemas.microsoft.com/office/drawing/2014/main" val="1203884035"/>
                    </a:ext>
                  </a:extLst>
                </a:gridCol>
                <a:gridCol w="1373517">
                  <a:extLst>
                    <a:ext uri="{9D8B030D-6E8A-4147-A177-3AD203B41FA5}">
                      <a16:colId xmlns:a16="http://schemas.microsoft.com/office/drawing/2014/main" val="96284457"/>
                    </a:ext>
                  </a:extLst>
                </a:gridCol>
                <a:gridCol w="1374402">
                  <a:extLst>
                    <a:ext uri="{9D8B030D-6E8A-4147-A177-3AD203B41FA5}">
                      <a16:colId xmlns:a16="http://schemas.microsoft.com/office/drawing/2014/main" val="3006185974"/>
                    </a:ext>
                  </a:extLst>
                </a:gridCol>
              </a:tblGrid>
              <a:tr h="489204">
                <a:tc gridSpan="5">
                  <a:txBody>
                    <a:bodyPr/>
                    <a:lstStyle/>
                    <a:p>
                      <a:pPr marL="0" marR="0" indent="-1270">
                        <a:lnSpc>
                          <a:spcPct val="107000"/>
                        </a:lnSpc>
                        <a:spcBef>
                          <a:spcPts val="0"/>
                        </a:spcBef>
                        <a:spcAft>
                          <a:spcPts val="0"/>
                        </a:spcAft>
                      </a:pPr>
                      <a:r>
                        <a:rPr lang="en-US" sz="1800" kern="100" dirty="0">
                          <a:effectLst/>
                        </a:rPr>
                        <a:t>Table 4. Adjusted odds ratios for peer influences on substance use separately by Asian and Non-Asian Students.†</a:t>
                      </a:r>
                      <a:endParaRPr lang="en-US" sz="1800" kern="100" dirty="0">
                        <a:effectLst/>
                        <a:latin typeface="Calibri" panose="020F0502020204030204" pitchFamily="34" charset="0"/>
                        <a:ea typeface="Calibri" panose="020F0502020204030204" pitchFamily="34"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758309"/>
                  </a:ext>
                </a:extLst>
              </a:tr>
              <a:tr h="706506">
                <a:tc>
                  <a:txBody>
                    <a:bodyPr/>
                    <a:lstStyle/>
                    <a:p>
                      <a:pPr marL="0" marR="0" indent="-1270">
                        <a:lnSpc>
                          <a:spcPct val="107000"/>
                        </a:lnSpc>
                        <a:spcBef>
                          <a:spcPts val="0"/>
                        </a:spcBef>
                        <a:spcAft>
                          <a:spcPts val="0"/>
                        </a:spcAft>
                      </a:pPr>
                      <a:r>
                        <a:rPr lang="en-US" sz="1800" kern="100" dirty="0">
                          <a:effectLst/>
                        </a:rPr>
                        <a:t> </a:t>
                      </a:r>
                      <a:endParaRPr lang="en-US" sz="1800"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E-cigarette</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Marijuana</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Alcohol</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Any</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556869150"/>
                  </a:ext>
                </a:extLst>
              </a:tr>
              <a:tr h="244178">
                <a:tc>
                  <a:txBody>
                    <a:bodyPr/>
                    <a:lstStyle/>
                    <a:p>
                      <a:pPr marL="0" marR="0" indent="-1270">
                        <a:lnSpc>
                          <a:spcPct val="107000"/>
                        </a:lnSpc>
                        <a:spcBef>
                          <a:spcPts val="0"/>
                        </a:spcBef>
                        <a:spcAft>
                          <a:spcPts val="0"/>
                        </a:spcAft>
                      </a:pPr>
                      <a:r>
                        <a:rPr lang="en-US" sz="1800" b="1" u="sng" kern="100" dirty="0">
                          <a:effectLst/>
                        </a:rPr>
                        <a:t>Asian Students</a:t>
                      </a:r>
                      <a:endParaRPr lang="en-US" sz="1800" b="1" u="sng"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234236172"/>
                  </a:ext>
                </a:extLst>
              </a:tr>
              <a:tr h="466990">
                <a:tc>
                  <a:txBody>
                    <a:bodyPr/>
                    <a:lstStyle/>
                    <a:p>
                      <a:pPr marL="0" marR="0" indent="-1270">
                        <a:lnSpc>
                          <a:spcPct val="107000"/>
                        </a:lnSpc>
                        <a:spcBef>
                          <a:spcPts val="0"/>
                        </a:spcBef>
                        <a:spcAft>
                          <a:spcPts val="0"/>
                        </a:spcAft>
                      </a:pPr>
                      <a:r>
                        <a:rPr lang="en-US" sz="1800" kern="100" dirty="0">
                          <a:effectLst/>
                        </a:rPr>
                        <a:t># Friends Self-report Use</a:t>
                      </a:r>
                      <a:endParaRPr lang="en-US" sz="1800"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2.83**</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4.67**</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2.23**</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5.34**</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20540957"/>
                  </a:ext>
                </a:extLst>
              </a:tr>
              <a:tr h="466990">
                <a:tc>
                  <a:txBody>
                    <a:bodyPr/>
                    <a:lstStyle/>
                    <a:p>
                      <a:pPr marL="0" marR="0" indent="-1270">
                        <a:lnSpc>
                          <a:spcPct val="107000"/>
                        </a:lnSpc>
                        <a:spcBef>
                          <a:spcPts val="0"/>
                        </a:spcBef>
                        <a:spcAft>
                          <a:spcPts val="0"/>
                        </a:spcAft>
                      </a:pPr>
                      <a:r>
                        <a:rPr lang="en-US" sz="1800" kern="100">
                          <a:effectLst/>
                        </a:rPr>
                        <a:t># Friends Perceived to Use</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1.96**</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3.03**</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2.03**</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2.91**</a:t>
                      </a:r>
                      <a:endParaRPr lang="en-US" sz="1800" kern="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694465153"/>
                  </a:ext>
                </a:extLst>
              </a:tr>
              <a:tr h="466990">
                <a:tc>
                  <a:txBody>
                    <a:bodyPr/>
                    <a:lstStyle/>
                    <a:p>
                      <a:pPr marL="0" marR="0" indent="-1270">
                        <a:lnSpc>
                          <a:spcPct val="107000"/>
                        </a:lnSpc>
                        <a:spcBef>
                          <a:spcPts val="0"/>
                        </a:spcBef>
                        <a:spcAft>
                          <a:spcPts val="0"/>
                        </a:spcAft>
                      </a:pPr>
                      <a:r>
                        <a:rPr lang="en-US" sz="1800" b="1" i="1" kern="100" dirty="0">
                          <a:effectLst/>
                        </a:rPr>
                        <a:t>Non -Asian Students</a:t>
                      </a:r>
                      <a:endParaRPr lang="en-US" sz="1800" b="1" i="1"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 </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32122239"/>
                  </a:ext>
                </a:extLst>
              </a:tr>
              <a:tr h="466990">
                <a:tc>
                  <a:txBody>
                    <a:bodyPr/>
                    <a:lstStyle/>
                    <a:p>
                      <a:pPr marL="0" marR="0" indent="-1270">
                        <a:lnSpc>
                          <a:spcPct val="107000"/>
                        </a:lnSpc>
                        <a:spcBef>
                          <a:spcPts val="0"/>
                        </a:spcBef>
                        <a:spcAft>
                          <a:spcPts val="0"/>
                        </a:spcAft>
                      </a:pPr>
                      <a:r>
                        <a:rPr lang="en-US" sz="1800" kern="100" dirty="0">
                          <a:effectLst/>
                        </a:rPr>
                        <a:t># Friends Self-report Use</a:t>
                      </a:r>
                      <a:endParaRPr lang="en-US" sz="1800"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1.84**</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2.20**</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1.84**</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2.90**</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95776199"/>
                  </a:ext>
                </a:extLst>
              </a:tr>
              <a:tr h="466990">
                <a:tc>
                  <a:txBody>
                    <a:bodyPr/>
                    <a:lstStyle/>
                    <a:p>
                      <a:pPr marL="0" marR="0" indent="-1270">
                        <a:lnSpc>
                          <a:spcPct val="107000"/>
                        </a:lnSpc>
                        <a:spcBef>
                          <a:spcPts val="0"/>
                        </a:spcBef>
                        <a:spcAft>
                          <a:spcPts val="0"/>
                        </a:spcAft>
                      </a:pPr>
                      <a:r>
                        <a:rPr lang="en-US" sz="1800" kern="100">
                          <a:effectLst/>
                        </a:rPr>
                        <a:t># Friends Perceived to Use</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1.63**</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1.88**</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1.45**</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2.16**</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66510138"/>
                  </a:ext>
                </a:extLst>
              </a:tr>
              <a:tr h="244178">
                <a:tc>
                  <a:txBody>
                    <a:bodyPr/>
                    <a:lstStyle/>
                    <a:p>
                      <a:pPr marL="0" marR="0" indent="-1270">
                        <a:lnSpc>
                          <a:spcPct val="107000"/>
                        </a:lnSpc>
                        <a:spcBef>
                          <a:spcPts val="0"/>
                        </a:spcBef>
                        <a:spcAft>
                          <a:spcPts val="0"/>
                        </a:spcAft>
                      </a:pPr>
                      <a:r>
                        <a:rPr lang="en-US" sz="1800" b="1" u="sng" kern="100" dirty="0">
                          <a:effectLst/>
                        </a:rPr>
                        <a:t>Wald Test Z Scores</a:t>
                      </a:r>
                      <a:endParaRPr lang="en-US" sz="1800" b="1" u="sng"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 </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 </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530543000"/>
                  </a:ext>
                </a:extLst>
              </a:tr>
              <a:tr h="466990">
                <a:tc>
                  <a:txBody>
                    <a:bodyPr/>
                    <a:lstStyle/>
                    <a:p>
                      <a:pPr marL="0" marR="0" indent="-1270">
                        <a:lnSpc>
                          <a:spcPct val="107000"/>
                        </a:lnSpc>
                        <a:spcBef>
                          <a:spcPts val="0"/>
                        </a:spcBef>
                        <a:spcAft>
                          <a:spcPts val="0"/>
                        </a:spcAft>
                      </a:pPr>
                      <a:r>
                        <a:rPr lang="en-US" sz="1800" kern="100" dirty="0">
                          <a:effectLst/>
                        </a:rPr>
                        <a:t># Friends Self-report Use</a:t>
                      </a:r>
                      <a:endParaRPr lang="en-US" sz="1800" kern="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1.70*</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2.46**</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1.12</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2.03*</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799075746"/>
                  </a:ext>
                </a:extLst>
              </a:tr>
              <a:tr h="466990">
                <a:tc>
                  <a:txBody>
                    <a:bodyPr/>
                    <a:lstStyle/>
                    <a:p>
                      <a:pPr marL="0" marR="0" indent="-1270">
                        <a:lnSpc>
                          <a:spcPct val="107000"/>
                        </a:lnSpc>
                        <a:spcBef>
                          <a:spcPts val="0"/>
                        </a:spcBef>
                        <a:spcAft>
                          <a:spcPts val="0"/>
                        </a:spcAft>
                      </a:pPr>
                      <a:r>
                        <a:rPr lang="en-US" sz="1800" kern="100">
                          <a:effectLst/>
                        </a:rPr>
                        <a:t># Friends Perceived to Use</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1.19</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2.61**</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a:effectLst/>
                        </a:rPr>
                        <a:t>2.96**</a:t>
                      </a:r>
                      <a:endParaRPr lang="en-US" sz="1800" kern="100">
                        <a:effectLst/>
                        <a:latin typeface="Calibri" panose="020F0502020204030204" pitchFamily="34" charset="0"/>
                        <a:ea typeface="Calibri" panose="020F0502020204030204" pitchFamily="34" charset="0"/>
                      </a:endParaRPr>
                    </a:p>
                  </a:txBody>
                  <a:tcPr marL="68580" marR="68580" marT="0" marB="0"/>
                </a:tc>
                <a:tc>
                  <a:txBody>
                    <a:bodyPr/>
                    <a:lstStyle/>
                    <a:p>
                      <a:pPr marL="0" marR="0" indent="-1270" algn="ctr">
                        <a:lnSpc>
                          <a:spcPct val="107000"/>
                        </a:lnSpc>
                        <a:spcBef>
                          <a:spcPts val="0"/>
                        </a:spcBef>
                        <a:spcAft>
                          <a:spcPts val="0"/>
                        </a:spcAft>
                      </a:pPr>
                      <a:r>
                        <a:rPr lang="en-US" sz="1800" kern="100" dirty="0">
                          <a:effectLst/>
                        </a:rPr>
                        <a:t>1.74*</a:t>
                      </a:r>
                      <a:endParaRPr lang="en-US" sz="18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627389908"/>
                  </a:ext>
                </a:extLst>
              </a:tr>
            </a:tbl>
          </a:graphicData>
        </a:graphic>
      </p:graphicFrame>
      <p:sp>
        <p:nvSpPr>
          <p:cNvPr id="3" name="Date Placeholder 2">
            <a:extLst>
              <a:ext uri="{FF2B5EF4-FFF2-40B4-BE49-F238E27FC236}">
                <a16:creationId xmlns:a16="http://schemas.microsoft.com/office/drawing/2014/main" id="{2CFCB107-4B94-2330-EDEB-A76CC4796FA9}"/>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20190E58-FD19-7902-AA7D-8A7167579808}"/>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2617412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A1DE-67D2-B32A-2CD2-998F8918188F}"/>
              </a:ext>
            </a:extLst>
          </p:cNvPr>
          <p:cNvSpPr>
            <a:spLocks noGrp="1"/>
          </p:cNvSpPr>
          <p:nvPr>
            <p:ph type="title"/>
          </p:nvPr>
        </p:nvSpPr>
        <p:spPr/>
        <p:txBody>
          <a:bodyPr/>
          <a:lstStyle/>
          <a:p>
            <a:r>
              <a:rPr lang="en-US" dirty="0"/>
              <a:t>Additionally</a:t>
            </a:r>
          </a:p>
        </p:txBody>
      </p:sp>
      <p:sp>
        <p:nvSpPr>
          <p:cNvPr id="3" name="Content Placeholder 2">
            <a:extLst>
              <a:ext uri="{FF2B5EF4-FFF2-40B4-BE49-F238E27FC236}">
                <a16:creationId xmlns:a16="http://schemas.microsoft.com/office/drawing/2014/main" id="{50B08C83-6E16-858C-2261-AA4F99814946}"/>
              </a:ext>
            </a:extLst>
          </p:cNvPr>
          <p:cNvSpPr>
            <a:spLocks noGrp="1"/>
          </p:cNvSpPr>
          <p:nvPr>
            <p:ph idx="1"/>
          </p:nvPr>
        </p:nvSpPr>
        <p:spPr/>
        <p:txBody>
          <a:bodyPr/>
          <a:lstStyle/>
          <a:p>
            <a:r>
              <a:rPr lang="en-US" dirty="0"/>
              <a:t>Results replicated on past 6 months use</a:t>
            </a:r>
          </a:p>
          <a:p>
            <a:r>
              <a:rPr lang="en-US" dirty="0"/>
              <a:t>Results did not differ by whether the school was Asian majority.</a:t>
            </a:r>
          </a:p>
        </p:txBody>
      </p:sp>
      <p:sp>
        <p:nvSpPr>
          <p:cNvPr id="4" name="Date Placeholder 3">
            <a:extLst>
              <a:ext uri="{FF2B5EF4-FFF2-40B4-BE49-F238E27FC236}">
                <a16:creationId xmlns:a16="http://schemas.microsoft.com/office/drawing/2014/main" id="{FBA92F13-B709-5B99-FD39-4BD98CC43AD6}"/>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83E2B4F3-09F7-3076-7893-8DE3EB3F89FA}"/>
              </a:ext>
            </a:extLst>
          </p:cNvPr>
          <p:cNvSpPr>
            <a:spLocks noGrp="1"/>
          </p:cNvSpPr>
          <p:nvPr>
            <p:ph type="ftr" sz="quarter" idx="11"/>
          </p:nvPr>
        </p:nvSpPr>
        <p:spPr/>
        <p:txBody>
          <a:bodyPr/>
          <a:lstStyle/>
          <a:p>
            <a:pPr>
              <a:defRPr/>
            </a:pPr>
            <a:endParaRPr lang="en-US" dirty="0"/>
          </a:p>
        </p:txBody>
      </p:sp>
    </p:spTree>
    <p:extLst>
      <p:ext uri="{BB962C8B-B14F-4D97-AF65-F5344CB8AC3E}">
        <p14:creationId xmlns:p14="http://schemas.microsoft.com/office/powerpoint/2010/main" val="2507223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1FBE-0CAD-2E51-E510-570D9F2D80F7}"/>
              </a:ext>
            </a:extLst>
          </p:cNvPr>
          <p:cNvSpPr>
            <a:spLocks noGrp="1"/>
          </p:cNvSpPr>
          <p:nvPr>
            <p:ph type="title"/>
          </p:nvPr>
        </p:nvSpPr>
        <p:spPr/>
        <p:txBody>
          <a:bodyPr/>
          <a:lstStyle/>
          <a:p>
            <a:r>
              <a:rPr lang="en-US" dirty="0"/>
              <a:t>Other Publications</a:t>
            </a:r>
          </a:p>
        </p:txBody>
      </p:sp>
      <p:sp>
        <p:nvSpPr>
          <p:cNvPr id="3" name="Content Placeholder 2">
            <a:extLst>
              <a:ext uri="{FF2B5EF4-FFF2-40B4-BE49-F238E27FC236}">
                <a16:creationId xmlns:a16="http://schemas.microsoft.com/office/drawing/2014/main" id="{82294FF8-C239-7755-1201-3732A287BE6B}"/>
              </a:ext>
            </a:extLst>
          </p:cNvPr>
          <p:cNvSpPr>
            <a:spLocks noGrp="1"/>
          </p:cNvSpPr>
          <p:nvPr>
            <p:ph idx="1"/>
          </p:nvPr>
        </p:nvSpPr>
        <p:spPr/>
        <p:txBody>
          <a:bodyPr/>
          <a:lstStyle/>
          <a:p>
            <a:r>
              <a:rPr lang="en-US" sz="2000" dirty="0">
                <a:effectLst/>
                <a:latin typeface="Times New Roman" panose="02020603050405020304" pitchFamily="18" charset="0"/>
                <a:ea typeface="Times New Roman" panose="02020603050405020304" pitchFamily="18" charset="0"/>
              </a:rPr>
              <a:t>Piombo, S. E., Vega Yon, G., &amp; </a:t>
            </a:r>
            <a:r>
              <a:rPr lang="en-US" sz="2000" b="1" dirty="0">
                <a:effectLst/>
                <a:latin typeface="Times New Roman" panose="02020603050405020304" pitchFamily="18" charset="0"/>
                <a:ea typeface="Times New Roman" panose="02020603050405020304" pitchFamily="18" charset="0"/>
              </a:rPr>
              <a:t>Valente, T. W.</a:t>
            </a:r>
            <a:r>
              <a:rPr lang="en-US" sz="2000" dirty="0">
                <a:effectLst/>
                <a:latin typeface="Times New Roman" panose="02020603050405020304" pitchFamily="18" charset="0"/>
                <a:ea typeface="Times New Roman" panose="02020603050405020304" pitchFamily="18" charset="0"/>
              </a:rPr>
              <a:t> (2025). The impact of social norms on diffusion dynamics: A simulation of e-cigarette use behavior. </a:t>
            </a:r>
            <a:r>
              <a:rPr lang="en-US" sz="2000" u="sng" dirty="0">
                <a:effectLst/>
                <a:latin typeface="Times New Roman" panose="02020603050405020304" pitchFamily="18" charset="0"/>
                <a:ea typeface="Times New Roman" panose="02020603050405020304" pitchFamily="18" charset="0"/>
              </a:rPr>
              <a:t>Health Education and Behavior</a:t>
            </a:r>
            <a:r>
              <a:rPr lang="en-US" sz="2000" dirty="0">
                <a:effectLst/>
                <a:latin typeface="Times New Roman" panose="02020603050405020304" pitchFamily="18" charset="0"/>
                <a:ea typeface="Times New Roman" panose="02020603050405020304" pitchFamily="18" charset="0"/>
              </a:rPr>
              <a:t>, </a:t>
            </a:r>
            <a:r>
              <a:rPr lang="en-US" sz="2000" u="sng" dirty="0">
                <a:effectLst/>
                <a:latin typeface="Times New Roman" panose="02020603050405020304" pitchFamily="18" charset="0"/>
                <a:ea typeface="Times New Roman" panose="02020603050405020304" pitchFamily="18" charset="0"/>
              </a:rPr>
              <a:t>00</a:t>
            </a:r>
            <a:r>
              <a:rPr lang="en-US" sz="2000" dirty="0">
                <a:effectLst/>
                <a:latin typeface="Times New Roman" panose="02020603050405020304" pitchFamily="18" charset="0"/>
                <a:ea typeface="Times New Roman" panose="02020603050405020304" pitchFamily="18" charset="0"/>
              </a:rPr>
              <a:t>,  doi:10.1177/10901981251327189</a:t>
            </a:r>
          </a:p>
          <a:p>
            <a:pPr>
              <a:spcBef>
                <a:spcPts val="0"/>
              </a:spcBef>
              <a:spcAft>
                <a:spcPts val="0"/>
              </a:spcAft>
              <a:tabLst>
                <a:tab pos="685800" algn="l"/>
              </a:tabLst>
            </a:pPr>
            <a:r>
              <a:rPr lang="en-US" sz="2000" dirty="0">
                <a:effectLst/>
                <a:latin typeface="Times New Roman" panose="02020603050405020304" pitchFamily="18" charset="0"/>
                <a:ea typeface="Times New Roman" panose="02020603050405020304" pitchFamily="18" charset="0"/>
              </a:rPr>
              <a:t>Piombo, S. E., de la Haye, K., &amp; </a:t>
            </a:r>
            <a:r>
              <a:rPr lang="en-US" sz="2000" b="1" dirty="0">
                <a:effectLst/>
                <a:latin typeface="Times New Roman" panose="02020603050405020304" pitchFamily="18" charset="0"/>
                <a:ea typeface="Times New Roman" panose="02020603050405020304" pitchFamily="18" charset="0"/>
              </a:rPr>
              <a:t>Valente, T. W.</a:t>
            </a:r>
            <a:r>
              <a:rPr lang="en-US" sz="2000" dirty="0">
                <a:effectLst/>
                <a:latin typeface="Times New Roman" panose="02020603050405020304" pitchFamily="18" charset="0"/>
                <a:ea typeface="Times New Roman" panose="02020603050405020304" pitchFamily="18" charset="0"/>
              </a:rPr>
              <a:t> (2025). Network dynamics of social influence on e-cigarette use among an ethnically diverse adolescent cohort. </a:t>
            </a:r>
            <a:r>
              <a:rPr lang="en-US" sz="2000" u="sng" dirty="0">
                <a:effectLst/>
                <a:latin typeface="Times New Roman" panose="02020603050405020304" pitchFamily="18" charset="0"/>
                <a:ea typeface="Times New Roman" panose="02020603050405020304" pitchFamily="18" charset="0"/>
              </a:rPr>
              <a:t>Nicotine and Tobacco Research</a:t>
            </a:r>
            <a:r>
              <a:rPr lang="en-US" sz="2000" dirty="0">
                <a:effectLst/>
                <a:latin typeface="Times New Roman" panose="02020603050405020304" pitchFamily="18" charset="0"/>
                <a:ea typeface="Times New Roman" panose="02020603050405020304" pitchFamily="18" charset="0"/>
              </a:rPr>
              <a:t>, </a:t>
            </a:r>
            <a:r>
              <a:rPr lang="en-US" sz="2000" u="sng" dirty="0">
                <a:effectLst/>
                <a:latin typeface="Times New Roman" panose="02020603050405020304" pitchFamily="18" charset="0"/>
                <a:ea typeface="Times New Roman" panose="02020603050405020304" pitchFamily="18" charset="0"/>
              </a:rPr>
              <a:t>00</a:t>
            </a:r>
            <a:r>
              <a:rPr lang="en-US" sz="2000" dirty="0">
                <a:effectLst/>
                <a:latin typeface="Times New Roman" panose="02020603050405020304" pitchFamily="18" charset="0"/>
                <a:ea typeface="Times New Roman" panose="02020603050405020304" pitchFamily="18" charset="0"/>
              </a:rPr>
              <a:t>, </a:t>
            </a:r>
          </a:p>
          <a:p>
            <a:r>
              <a:rPr lang="en-US" sz="2000" dirty="0">
                <a:effectLst/>
                <a:latin typeface="Times New Roman" panose="02020603050405020304" pitchFamily="18" charset="0"/>
                <a:ea typeface="Times New Roman" panose="02020603050405020304" pitchFamily="18" charset="0"/>
              </a:rPr>
              <a:t>Piombo, S. E., Barrington-Trimis, J., &amp; </a:t>
            </a:r>
            <a:r>
              <a:rPr lang="en-US" sz="2000" b="1" dirty="0">
                <a:effectLst/>
                <a:latin typeface="Times New Roman" panose="02020603050405020304" pitchFamily="18" charset="0"/>
                <a:ea typeface="Times New Roman" panose="02020603050405020304" pitchFamily="18" charset="0"/>
              </a:rPr>
              <a:t>Valente, T. W.</a:t>
            </a:r>
            <a:r>
              <a:rPr lang="en-US" sz="2000" dirty="0">
                <a:effectLst/>
                <a:latin typeface="Times New Roman" panose="02020603050405020304" pitchFamily="18" charset="0"/>
                <a:ea typeface="Times New Roman" panose="02020603050405020304" pitchFamily="18" charset="0"/>
              </a:rPr>
              <a:t> (2023). Network norms and individual electronic nicotine delivery systems use. </a:t>
            </a:r>
            <a:r>
              <a:rPr lang="en-US" sz="2000" u="sng" dirty="0">
                <a:effectLst/>
                <a:latin typeface="Times New Roman" panose="02020603050405020304" pitchFamily="18" charset="0"/>
                <a:ea typeface="Times New Roman" panose="02020603050405020304" pitchFamily="18" charset="0"/>
              </a:rPr>
              <a:t>BMC Public Health</a:t>
            </a:r>
            <a:r>
              <a:rPr lang="en-US" sz="2000" dirty="0">
                <a:effectLst/>
                <a:latin typeface="Times New Roman" panose="02020603050405020304" pitchFamily="18" charset="0"/>
                <a:ea typeface="Times New Roman" panose="02020603050405020304" pitchFamily="18" charset="0"/>
              </a:rPr>
              <a:t>.</a:t>
            </a:r>
          </a:p>
          <a:p>
            <a:endParaRPr lang="en-US" sz="2000" dirty="0"/>
          </a:p>
        </p:txBody>
      </p:sp>
      <p:sp>
        <p:nvSpPr>
          <p:cNvPr id="4" name="Date Placeholder 3">
            <a:extLst>
              <a:ext uri="{FF2B5EF4-FFF2-40B4-BE49-F238E27FC236}">
                <a16:creationId xmlns:a16="http://schemas.microsoft.com/office/drawing/2014/main" id="{C1E4A2C3-0BD8-7721-485F-621A5AA47AFD}"/>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64AE0C35-B590-1B5B-74FB-12851F0D84EE}"/>
              </a:ext>
            </a:extLst>
          </p:cNvPr>
          <p:cNvSpPr>
            <a:spLocks noGrp="1"/>
          </p:cNvSpPr>
          <p:nvPr>
            <p:ph type="ftr" sz="quarter" idx="11"/>
          </p:nvPr>
        </p:nvSpPr>
        <p:spPr/>
        <p:txBody>
          <a:bodyPr/>
          <a:lstStyle/>
          <a:p>
            <a:pPr>
              <a:defRPr/>
            </a:pPr>
            <a:r>
              <a:rPr lang="en-US"/>
              <a:t>Slide # </a:t>
            </a:r>
            <a:fld id="{EF6EE748-6D85-4FEF-868A-97D7BF9BB179}" type="slidenum">
              <a:rPr lang="en-US" smtClean="0"/>
              <a:pPr>
                <a:defRPr/>
              </a:pPr>
              <a:t>28</a:t>
            </a:fld>
            <a:endParaRPr lang="en-US" dirty="0"/>
          </a:p>
        </p:txBody>
      </p:sp>
    </p:spTree>
    <p:extLst>
      <p:ext uri="{BB962C8B-B14F-4D97-AF65-F5344CB8AC3E}">
        <p14:creationId xmlns:p14="http://schemas.microsoft.com/office/powerpoint/2010/main" val="2970472406"/>
      </p:ext>
    </p:extLst>
  </p:cSld>
  <p:clrMapOvr>
    <a:masterClrMapping/>
  </p:clrMapOvr>
</p:sld>
</file>

<file path=ppt/theme/theme1.xml><?xml version="1.0" encoding="utf-8"?>
<a:theme xmlns:a="http://schemas.openxmlformats.org/drawingml/2006/main" name="Global Environmental Health">
  <a:themeElements>
    <a:clrScheme name="">
      <a:dk1>
        <a:srgbClr val="000000"/>
      </a:dk1>
      <a:lt1>
        <a:srgbClr val="FFFFFF"/>
      </a:lt1>
      <a:dk2>
        <a:srgbClr val="990000"/>
      </a:dk2>
      <a:lt2>
        <a:srgbClr val="999999"/>
      </a:lt2>
      <a:accent1>
        <a:srgbClr val="CCCCCC"/>
      </a:accent1>
      <a:accent2>
        <a:srgbClr val="FFCC00"/>
      </a:accent2>
      <a:accent3>
        <a:srgbClr val="FFFFFF"/>
      </a:accent3>
      <a:accent4>
        <a:srgbClr val="000000"/>
      </a:accent4>
      <a:accent5>
        <a:srgbClr val="E2E2E2"/>
      </a:accent5>
      <a:accent6>
        <a:srgbClr val="E7B900"/>
      </a:accent6>
      <a:hlink>
        <a:srgbClr val="970000"/>
      </a:hlink>
      <a:folHlink>
        <a:srgbClr val="666666"/>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SC">
  <a:themeElements>
    <a:clrScheme name="">
      <a:dk1>
        <a:srgbClr val="000000"/>
      </a:dk1>
      <a:lt1>
        <a:srgbClr val="FFFFFF"/>
      </a:lt1>
      <a:dk2>
        <a:srgbClr val="990000"/>
      </a:dk2>
      <a:lt2>
        <a:srgbClr val="999999"/>
      </a:lt2>
      <a:accent1>
        <a:srgbClr val="CCCCCC"/>
      </a:accent1>
      <a:accent2>
        <a:srgbClr val="FFCC00"/>
      </a:accent2>
      <a:accent3>
        <a:srgbClr val="FFFFFF"/>
      </a:accent3>
      <a:accent4>
        <a:srgbClr val="000000"/>
      </a:accent4>
      <a:accent5>
        <a:srgbClr val="E2E2E2"/>
      </a:accent5>
      <a:accent6>
        <a:srgbClr val="E7B900"/>
      </a:accent6>
      <a:hlink>
        <a:srgbClr val="970000"/>
      </a:hlink>
      <a:folHlink>
        <a:srgbClr val="666666"/>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b1f5921-cfc0-430b-96e1-8c58575e7499}" enabled="1" method="Standard" siteId="{a63249ac-3e0b-4a24-9e0c-c90ab9891e30}" contentBits="2" removed="0"/>
</clbl:labelList>
</file>

<file path=docProps/app.xml><?xml version="1.0" encoding="utf-8"?>
<Properties xmlns="http://schemas.openxmlformats.org/officeDocument/2006/extended-properties" xmlns:vt="http://schemas.openxmlformats.org/officeDocument/2006/docPropsVTypes">
  <TotalTime>182091</TotalTime>
  <Words>1407</Words>
  <Application>Microsoft Office PowerPoint</Application>
  <PresentationFormat>On-screen Show (4:3)</PresentationFormat>
  <Paragraphs>553</Paragraphs>
  <Slides>28</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28</vt:i4>
      </vt:variant>
    </vt:vector>
  </HeadingPairs>
  <TitlesOfParts>
    <vt:vector size="35" baseType="lpstr">
      <vt:lpstr>Arial</vt:lpstr>
      <vt:lpstr>Calibri</vt:lpstr>
      <vt:lpstr>Times</vt:lpstr>
      <vt:lpstr>Times New Roman</vt:lpstr>
      <vt:lpstr>Global Environmental Health</vt:lpstr>
      <vt:lpstr>USC</vt:lpstr>
      <vt:lpstr>1_Default Design</vt:lpstr>
      <vt:lpstr>Social Network Influences on Adolescent Substance Use</vt:lpstr>
      <vt:lpstr>E-cigarette Cessation as a Disadoption Process: Social Network Influences on Stable and Temporary Quitting  </vt:lpstr>
      <vt:lpstr>Authors</vt:lpstr>
      <vt:lpstr>Acknowledgements</vt:lpstr>
      <vt:lpstr>Data Collection</vt:lpstr>
      <vt:lpstr>Network Question  (Roster Pre-loaded)</vt:lpstr>
      <vt:lpstr>Outcomes:</vt:lpstr>
      <vt:lpstr>Covariate Controls</vt:lpstr>
      <vt:lpstr>Results: Demographics</vt:lpstr>
      <vt:lpstr>Network Data</vt:lpstr>
      <vt:lpstr>Exposure is Associated with Adoption</vt:lpstr>
      <vt:lpstr>Networks</vt:lpstr>
      <vt:lpstr>PowerPoint Presentation</vt:lpstr>
      <vt:lpstr>Quitting</vt:lpstr>
      <vt:lpstr>PowerPoint Presentation</vt:lpstr>
      <vt:lpstr>Past 6-Month E-cigarette Use</vt:lpstr>
      <vt:lpstr>Quit rates as a function of the number of perceived friends who vape</vt:lpstr>
      <vt:lpstr>Quit rates as a function of the number of network ties who vape</vt:lpstr>
      <vt:lpstr>Conclusions</vt:lpstr>
      <vt:lpstr>PowerPoint Presentation</vt:lpstr>
      <vt:lpstr>Conclusions (2)</vt:lpstr>
      <vt:lpstr>Discussion</vt:lpstr>
      <vt:lpstr>Thank You!</vt:lpstr>
      <vt:lpstr>PowerPoint Presentation</vt:lpstr>
      <vt:lpstr>Past 6-Month E-cigarette Use</vt:lpstr>
      <vt:lpstr>Asian Students More Susceptible to Peer Influence</vt:lpstr>
      <vt:lpstr>Additionally</vt:lpstr>
      <vt:lpstr>Other Publications</vt:lpstr>
    </vt:vector>
  </TitlesOfParts>
  <Company>Johns Hopkins Bloomberg School of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public health and why do you want to know about it?</dc:title>
  <dc:creator>JSAMET</dc:creator>
  <cp:lastModifiedBy>Thomas William Valente</cp:lastModifiedBy>
  <cp:revision>275</cp:revision>
  <cp:lastPrinted>2023-08-18T17:42:44Z</cp:lastPrinted>
  <dcterms:created xsi:type="dcterms:W3CDTF">2008-12-04T02:22:13Z</dcterms:created>
  <dcterms:modified xsi:type="dcterms:W3CDTF">2026-06-26T11:54:18Z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Global Environmental Health:3\USC:3\1_Default Design:3</vt:lpwstr>
  </property>
  <property fmtid="{D5CDD505-2E9C-101B-9397-08002B2CF9AE}" pid="3" name="ClassificationContentMarkingFooterText">
    <vt:lpwstr>INTERNAL</vt:lpwstr>
  </property>
</Properties>
</file>